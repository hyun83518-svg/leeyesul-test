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Malgun Gothic"/>
              </a:defRPr>
            </a:pPr>
            <a:r>
              <a:rPr sz="1000" b="0" i="0" u="none" strike="noStrike">
                <a:solidFill>
                  <a:srgbClr val="111111"/>
                </a:solidFill>
                <a:latin typeface="Malgun Gothic"/>
              </a:rPr>
              <a:t>기본안 335만원 구성 (만원)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1C"/>
              </a:solidFill>
              <a:effectLst/>
            </c:spPr>
          </c:dPt>
          <c:dPt>
            <c:idx val="1"/>
            <c:bubble3D val="0"/>
            <c:spPr>
              <a:solidFill>
                <a:srgbClr val="1F4E79"/>
              </a:solidFill>
              <a:effectLst/>
            </c:spPr>
          </c:dPt>
          <c:dPt>
            <c:idx val="2"/>
            <c:bubble3D val="0"/>
            <c:spPr>
              <a:solidFill>
                <a:srgbClr val="F2A65A"/>
              </a:solidFill>
              <a:effectLst/>
            </c:spPr>
          </c:dPt>
          <c:dPt>
            <c:idx val="3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bubble3D val="0"/>
            <c:spPr>
              <a:solidFill>
                <a:srgbClr val="5B8DB8"/>
              </a:solidFill>
              <a:effectLst/>
            </c:spPr>
          </c:dPt>
          <c:dPt>
            <c:idx val="5"/>
            <c:bubble3D val="0"/>
            <c:spPr>
              <a:solidFill>
                <a:srgbClr val="C0392B"/>
              </a:solidFill>
              <a:effectLst/>
            </c:spPr>
          </c:dPt>
          <c:dPt>
            <c:idx val="6"/>
            <c:bubble3D val="0"/>
            <c:spPr>
              <a:solidFill>
                <a:srgbClr val="9ACD8E"/>
              </a:solidFill>
              <a:effectLst/>
            </c:spPr>
          </c:dPt>
          <c:dPt>
            <c:idx val="7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제작물·굿즈</c:v>
                </c:pt>
                <c:pt idx="1">
                  <c:v>시설물·장비</c:v>
                </c:pt>
                <c:pt idx="2">
                  <c:v>경품 보완</c:v>
                </c:pt>
                <c:pt idx="3">
                  <c:v>F&amp;B</c:v>
                </c:pt>
                <c:pt idx="4">
                  <c:v>차량·운송</c:v>
                </c:pt>
                <c:pt idx="5">
                  <c:v>홍보</c:v>
                </c:pt>
                <c:pt idx="6">
                  <c:v>미니 이벤트</c:v>
                </c:pt>
                <c:pt idx="7">
                  <c:v>예비비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75</c:v>
                </c:pt>
                <c:pt idx="1">
                  <c:v>56</c:v>
                </c:pt>
                <c:pt idx="2">
                  <c:v>20</c:v>
                </c:pt>
                <c:pt idx="3">
                  <c:v>50</c:v>
                </c:pt>
                <c:pt idx="4">
                  <c:v>30</c:v>
                </c:pt>
                <c:pt idx="5">
                  <c:v>26</c:v>
                </c:pt>
                <c:pt idx="6">
                  <c:v>7</c:v>
                </c:pt>
                <c:pt idx="7">
                  <c:v>71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5120640" cy="512064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2011680"/>
            <a:ext cx="2743200" cy="27432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RIDERS DAY &amp; FLEA MARKET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PLAN  ·  v8 보완안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11. 15 (SUN)  10:00 – 17:00   |   아르테파인 인천점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v8 반영: 자유 시승존 / 체험존(야외·실내) / 소장품 마켓 수익금 기부 · 시승회 방식 3사 비교 · 포토존 · 예산 300~400만원 (음향은 보유 장비, 예산 0) · 직책 기준 담당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레인조모빌리티 · 아르테파인   |   INTERNAL · 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개요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406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309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아르테 플리마켓 — 라이더스 데이 &amp; 플리마켓 (가칭, 마케팅 확정)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VENUE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아르테파인 인천점 (실내 라운지·카페·세미나룸 + 야외 주차장·진입로)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11. 15 (SUN) 10:00 ~ 17:00   ※ 세팅 11/14(토), 철수 11/15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주최 아르테파인 / 주관 레인조모빌리티 (레인조아카데미)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SUPPORT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협력·후원: TS 한국교통안전공단·우체국 등 협업기관 + 협찬 브랜드 (경품 협찬 → 로고 노출)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입장 무료 · 셀러 참가비 무료 · 시승은 운영 방식(p.11)에 따라 5,000원/20분 또는 브랜드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방문객 500명 · 소장품 셀러 40팀(인플루언서 10 + 라이더 30) · 드레스업 8대 · 포토 인증 200건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판매 수익금 불우이웃 기부 (기관·비율 미정, 10/10 확정) — 클로징에서 총 기부액 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 ~ 400만원 (기본안 335만원 / 상한 400만원) — 음향은 보유 장비(예산 0), 무대 외주 없음, 경품은 협찬 중심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 시승존 · 체험존(야외: 거북이 레이스·푸시바이크 슬라럼 / 실내: 클리닉+OX·다트) · 소장품 마켓 · 포토존 · 드레스업 · 라이더 빙고 · 럭키드로 · 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128016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v8 변경점 (9/13)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1783080"/>
            <a:ext cx="3200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구조 재정의 — A 자유 시승존(시승만) / C 체험존(야외·실내 미니게임) / B 소장품 마켓(인플루언서·라이더 판매) / D 포토존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판매 수익금 불우이웃 기부 (기관 미정)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사업부: 렌탈 팀장 1 · 용산 라운지 매니저 1 분리 반영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음향은 보유 장비만 사용 → 예산 미반영(0원) · 엔진 사운드 퀴즈 제외(주변 소음)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2안 비교 — ① 타 브랜드 시승회 유치 / ② 아르테파인 렌탈 바이크 (결정 9/26)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전용 운영안 추가 (위치·연출·인증 이벤트·제작 규격)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직책으로 담당 재배정 (실명 미기재)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 시승회 후보: 스즈키 · CFMOTO · 야마하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업무 범위 확정 — 디자인·제작물·홍보·신청 폼·성과 집계 전담 (p.26)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협찬 경품 대상·1등·2등 등급표 · 신규 미니 이벤트 5종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PURPOSE &amp;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핵심 목적 &amp; 컨셉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플리마켓이 아닌 '아르테파인 브랜드 경험' — 방문 → 시승 → 렌탈 → 아카데미로 이어지는 고객 전환의 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용품을 보고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· 드레스업 전시 · 포토존 · 팝니다/구해요 보드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바이크를 직접 타보고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시승존 · 야외 체험존(거북이 레이스·푸시바이크 슬라럼)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경험을 공유하고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라이더·인플루언서 소장품 판매 → 수익금 기부 · 포토 인증 · 소장품 자선경매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15984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4584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라이더·브랜드·아르테파인이 연결되는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· 파트너존 · 라이더 빙고 · 아카데미 교육권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인지도 강화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시승·렌탈 매장을 넘어 라이더 문화 공간으로 포지셔닝. 1회차를 잘 끝내야 2회·3회로 이어진다.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310128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방문객의 고객 전환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310128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회원가입·렌탈 → 아카데미 교육 연결. 재방문 쿠폰·라이더 빙고 병행.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커뮤니티 구축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163056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부스 나열이 아닌 라이더·인플루언서가 직접 파는 '소장품 마켓' 참여형. 판매 수익은 기부해 행사에 명분을 더한다.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015984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 생태계 연결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015984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아르테파인(직영) → 레인조아카데미 → 가맹점 → 메이커/파트너사 순으로 노출·연결.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 “라이더들이 타고, 보고, 배우고, 자랑하고, 교류하는 라이더 페스티벌”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LOG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결정사항 누적 — 9/7 기획회의 + 9/13 v8 보완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05256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11/15(일) 확정. 비수기 진입 시기 → 인천 포커스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 500명 · 사전 신청 기반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 미정 — ① 타 브랜드(스즈키·CFMOTO·야마하) 시승회 유치 ② 아르테파인 렌탈 바이크 시승. 비교안(p.11) 기준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구조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자유 시승존 = 시승만 / C 체험존 = 미니게임 전부(야외·실내) / B 소장품 마켓 = 인플루언서·라이더 판매 부스 (p.13)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판매 수익금 불우이웃 기부. 기관·비율 미정 → 10/10 확정, 클로징에서 총액 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운영안 추가 — 야외 입구 진입로 메인, 우천 시 실내 입구 대체. 인스타 인증 이벤트 연동 (p.17)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정직원 조직도 기준 직책으로 담당 재배정, 실명 미기재. F&amp;B·카페 = 경영지원실 이사, 렌탈 사업부 = 본부장·렌탈 팀장·용산 라운지 매니저·인천 라운지·투어팀 (p.25)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모토메니아 윌리머신·시뮬레이터 체험 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무료. 인플루언서·초청 셀러는 접이식 테이블 제공, 일반 셀러는 자기 테이블/돗자리 지참(바닥 구획)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시승존·야외 체험존 야외, 소장품 마켓·실내 체험존 실내, 푸드 야외, 파트너존 입구 좌우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300~400만원. 기본안 335만원 + 예비비 포함 상한 400만원. 항목별 배분표로 결재 (p.32)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음향·무대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 전면 제외. 보유 스피커·무선마이크 + 노트북 BGM 자체 운영, 장비 구매 없음(예산 0). 무대는 포토존 앞 바닥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협찬 물품으로 구성. 럭키드로 대상·1등·2등 / 콘테스트별 1·2·3등 등급표 후 협찬 공문 발송 (p.23)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진행자(앰배서더 또는 직원) 확정. 외부 MC는 예비비 범위 내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업무분장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마케팅이 디자인·제작물·홍보·신청 폼·성과 집계 전담. 섭외·주문·서류는 사업부별 완결 (p.26)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 11/15 (SUN) 타임테이블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시승존은 자유 시승만 상시 · 미니게임은 체험존에서 정시 회차제 · BGM은 자체 스피커로 상시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737360"/>
                <a:gridCol w="1737360"/>
                <a:gridCol w="2651760"/>
                <a:gridCol w="15544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자유 시승존 (야외)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소장품 마켓 (실내)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C-1 야외 체험존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C-2 실내 체험존 ·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 · 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/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정렬·점검 (렌탈 or 브랜드)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09:30 스태프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입장·부스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기부함·QR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천테이프·라바콘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스피커·마이크 사운드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차량 8대 입고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소품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부스 세팅 · 09:50 스탠바이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자유 시승 (20분 회전, 예약+현장)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팝니다/구해요 보드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(자유 관람)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오프닝 멘트(내부 MC) · 빙고 카드 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 시작 · 포토존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OPEN (당일 할인)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1차 (11:00)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1차 (12:30)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꽝 없는 다트 1회 (12:05)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점심 피크 · VIP 세미나룸(옵션) · 스태프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클리닉(대표 10') + OX 퀴즈 (13:00)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2차 (14:00)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2회 (14:05)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 마감 14:30 · 단체 포토 타임 14:30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 (마지막 접수 15:30)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· 기부액 1차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2차 (15:00)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3회 (15:05) · 빙고 접수 마감 15:45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· 포토 인증 마감 15:30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종료 · 차량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(16:30 정리) · 기부액 최종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CLOSING: 시상 → 기부 총액 발표·셀러 호명 → 협찬사 소개 → 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(포토존 앞 스테이지)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멘트 · 굿즈 배포(VIP) · BGM 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· 철수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시승존은 운영 방식(①/②) 결정 후 회전 수·인력 확정. ② 렌탈 15대 기준 시간당 최대 45회전 이론치, 목표 150회전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SET-UP &amp; STRIKE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/ D-DAY / D+1 세팅·철수 일정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6400800"/>
                <a:gridCol w="2514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(SAT)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SET-UP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시승 차량 인천 집결 (② 렌탈 15대: 용산→인천 이동, 상태 사진 / ① 브랜드: 브랜드 측 반입 일정 조율)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아카데미 접이식 테이블·의자 전량 인천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야외 존 구획: 시승 출발/도착 스팟, 야외 체험존 코스(천테이프·라바콘), 푸드 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용산 라운지 매니저 · 투어팀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– 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실내 존 구획 라인 테이프, 소장품 마켓 자리 번호 부착, 기부함·QR 안내, 팝니다/구해요 보드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포토존 설치(현수막 백월 + 전시 바이크 + 소품·레터링), 2층 난간 협찬사·동호회 깃발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배너·A보드·POP 설치, 시상 보드·경품 테이블 세팅(협찬품 라벨링)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라운지(설치) / 마케팅(제작물 검수·포토존 연출)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 – 18:00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자체 음향 세팅: 실내 스피커 2 + 야외 포터블 1, 노트북 BGM·무선마이크 테스트, 릴선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MC 리허설(시나리오·큐시트), 경품·굿즈 수량 대조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운영 스태프 사전 교육 (동선·안전·시승 절차)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인천 라운지(음향) / 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(SUN)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08:00 – 09:50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최종 점검: 차량·연료, 시승 접수대(노트북·동의서 전산), 헬멧·글러브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셀러·브랜드 입장 및 세팅 지원, 푸드 부스 위생서류 현장 확인, 포토존 조명·소품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09:30 전체 브리핑 / 09:50 스탠바이 · 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본 행사 (Timetable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– 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 철수 안내, 시승 차량 상태 점검·사진, 제작물 철거(포토존 현수막은 보관·재사용)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대여 테이블 회수, 음향 장비 원위치, 쓰레기·주차장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(MON)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D+1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차량 용산·아카데미 복귀, 대여 물자 반납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결과 리뷰(방문·시승·회원가입·매출·포토 인증·빙고 완성률), 협찬사 감사 안내·사진 공유, 결과보고(11/20)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마케팅(성과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– 11월 프로젝트 타임라인 (주차별)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= 진행 구간 · ◇ = 마일스톤 · 담당은 조직도 부서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워크스트림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21538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9/29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87959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10/6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10/27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920800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04011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11/10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87221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15384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7488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9592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11696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5904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08008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72216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72216" y="1709928"/>
            <a:ext cx="832104" cy="4443984"/>
          </a:xfrm>
          <a:prstGeom prst="rect">
            <a:avLst/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1746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기획·담당자 확정·대표 승인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17465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29000" y="182880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6180" y="18379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112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(3사 타진 → ①/②)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2112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29000" y="21945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8284" y="22037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행사명·KV·제작물 디자인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86000" y="2478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429000" y="2560320"/>
            <a:ext cx="6565392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5828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1880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" y="2843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공문·인플루언서 초청·기부 기관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28600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29000" y="29260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26180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22492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폼·소장품 셀러/드레스업 모집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2286000" y="3209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마케팅·인천 라운지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61104" y="3291840"/>
            <a:ext cx="5733288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5828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1880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57200" y="3575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1차 섭외 → 2차 공모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2286000" y="35753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이사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61104" y="365760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22492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86700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7200" y="3941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코스·동의서·보험 (or 브랜드 협의)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2286000" y="3941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라운지·투어팀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93208" y="402336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86700" y="40325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" y="4306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자체 세팅·BGM (보유 장비)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2286000" y="4306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925312" y="438912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86700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83012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4672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시설물·굿즈 주문·입고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2286000" y="46725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757416" y="47548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18804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83012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57200" y="5038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집중 (문자·SNS·동호회)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2286000" y="5038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589520" y="512064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50908" y="51297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57200" y="5404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큐시트·인력 배치·안전 브리핑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2286000" y="5404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본부장·교육팀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21624" y="5486400"/>
            <a:ext cx="3236976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383012" y="54955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57200" y="5769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D-DAY · 철수·결과보고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2286000" y="57698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부서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085832" y="58521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215116" y="58613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마일스톤: 9/19 협찬 공문 발송·행사명 확정 → 9/26 시승 방식 결정·신청 폼 오픈 → 10/10 협찬 확답·예산 결재 → 10/31 모집 마감·제작물 발주 → 11/7 최종 점검 → 11/14 세팅 → 11/15 D-DAY → 11/20 결과보고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마일스톤 &amp; 담당 (Detail)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760720"/>
                <a:gridCol w="233172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Milestone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/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v8 기획안 대표 승인 · 담당 직책 확정 · 행사명·KV 방향 확정 · 협찬·파트너 공문 발송(참여 의사 + 경품) · 타 브랜드 시승회 의향 타진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기획안, 공문 발송 리스트, 브랜드 회신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9/22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결정(9/26) / 사전 신청 폼 오픈(소장품 셀러·드레스업·시승, 기부 동의 포함) / 인플루언서 셀러 초청 시작 / 푸드 1차 자체 섭외 / 굿즈 샘플 / 도식도·포토존 위치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대표·본부장 · 마케팅 · 인천 라운지 · 이사(F&amp;B)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회의록, 신청 폼 3종, 도식도 v1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9/29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1차 취합 · 경품 등급표 가안 / 셀러 모집 홍보 시작(SNS·CRM) / 음향 장비 실사(스피커·마이크·릴선)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회신표, 장비 실사표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10/6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마감(10/10) → 경품 리스트·예산(안) 335만원 결재 / 기부 기관·비율 확정 / 인플루언서 셀러 10팀 확정 / 푸드 1차 결과 판단 / (①) 브랜드와 운영 조건·보험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이사(F&amp;B) · 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결재본, 경품 등급표,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공모(필요 시) / 제작물·포토존 디자인 시안 / MC 시나리오 초안 / 시승 코스 답사·동의서 전산 테스트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마케팅 · 본부장 · 인천 라운지·투어팀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1차, 큐시트 초안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 제작 / 빙고 카드·슬라럼 룰 확정 / 제작물 시안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파일, 빙고 카드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10/27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발주(10/31) / 셀러·드레스업 모집 마감(10/31) / 시설물(텐트·라바콘·테이프·다트판·포토존 소품)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발주서, 셀러 배정표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 홍보(CRM 문자·SNS·동호회) / 시승 사전 예약 오픈 / 위생서류 취합 / 인력 배치표 확정·최종 점검 회의(11/7)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 · 이사(F&amp;B)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직책별 배치표, 위생서류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큐시트·안전 브리핑 자료 / 경품·굿즈 입고 확인·라벨링 / 11/14 세팅·리허설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큐시트, 경품 인수표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– 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철수·복귀 / 결과 집계·보고(11/20) / 협찬사·브랜드 감사 안내·사진 공유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결과보고서, 정산 증빙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 (개념도)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/ 야외 분리 원칙 — 정식 도식도는 현장 실측 후 재작성 (9/26)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스피커 위치 = 자체 음향 3포인트 (실내 2 · 야외 포터블 1)   ◎ 포토존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OUTDOOR 야외 (주차장·진입로)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INDOOR 실내 (라운지·카페·세미나룸)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901952"/>
            <a:ext cx="3154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199339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자유 시승존 (① 브랜드 / ② 렌탈)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249424"/>
            <a:ext cx="2935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시승만 자유롭게 — 출발/도착 스팟 · 차량 정렬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접수대(노트북·동의서 전산) · 헬멧/글러브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코스 안내 배너 · 통제 인력 상시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1901952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41648" y="199339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 야외 체험존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2249424"/>
            <a:ext cx="15636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(천테이프 코스)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 (라바콘 8개)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교관 심판 · 정시 회차제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2286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82219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푸드 존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078224"/>
            <a:ext cx="20665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컵밥 1 + 간식 1~2 부스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사업자·영업신고·보건증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 진출입과 분리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3730752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72968" y="382219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주차 · 방문객 동선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172968" y="4078224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통제 인력 배치 · 시승 동선과 분리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야외 포터블 스피커 1 (BGM 전용)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5056632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148072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포토존 (야외 입구 진입로 · 메인)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404104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현수막 백월 3,000×2,400 + 전시 바이크 1대 + 레터링·헬멧 스탠드 · 자연광 · 클로징 무대 배경 겸용 · 우천 시 실내 입구로 이동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4652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5624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55624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사전신청 확인 · 럭키드로 번호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 카드 배부 · 기부함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POP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38160" y="1901952"/>
            <a:ext cx="1691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47888" y="1993392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파트너·가맹점존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2249424"/>
            <a:ext cx="14721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좌·우 가시 위치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 테이블 1ea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동선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96696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7668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· 라운지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07668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커피·음료 (당일 할인)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= 휴게존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스피커 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46520" y="3730752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6248" y="382219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소장품 마켓 (부스 테이블)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556248" y="4078224"/>
            <a:ext cx="31638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 소장품 전시·판매 → 수익금 기부 · 초청 셀러 접이식 테이블, 일반 셀러 자기 테이블 · 기부함·QR · 팝니다/구해요 보드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966960" y="3730752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76688" y="38221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드레스업 전시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0076688" y="4078224"/>
            <a:ext cx="13350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 투표함 · 번호판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46520" y="5056632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56248" y="514807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 실내 체험존 · 스테이지 (바닥 무대)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556248" y="5404104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바닥 라인 · 꽝 없는 다트 · 클로징(시상·기부 발표·럭키드로)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메인 스피커 1 + 무선마이크 · ◎ 우천 시 포토존 대체 위치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966960" y="5056632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766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세미나룸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0076688" y="5404104"/>
            <a:ext cx="1335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운영본부 · 경품/굿즈 보관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점심(옵션)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· 존 구조 · 체험존 · 소장품 마켓 · 포토존 · 자체 음향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시승회 운영 방식 — ① 타 브랜드 시승회 유치  vs  ② 아르테파인 렌탈 바이크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기한 9/26 (차량 집결·코스 설계·보험 확인의 선행 조건) · 결정 주체 대표·본부장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 시승회 유치 — 스즈키 · CFMOTO · 야마하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신차·타 브랜드 라인업으로 집객력↑, 언론·SNS 화제성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차량·인스트럭터·보험·접수를 브랜드가 자체 운영 → 우리 인력 9명 → 3명, 차량 이동비 30만원 절감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경품 협찬·향후 협업(렌탈 차량 공급) 연결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'아르테파인 = 브랜드 시승회를 여는 장소'로 포지셔닝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매출(5,000원×150 = 75만원)·회원가입 전환이 우리 것이 아님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일정·의사결정에 종속, 불참 시 대체안 필요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사고·보험 책임 소재를 서면 합의해야 함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브랜드가 주인공이 되어 아르테파인 렌탈 노출이 약해질 위험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297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3사: 스즈키 · CFMOTO · 야마하 — 라인업이 겹치지 않아 동시 유치 가능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브랜드가 차량·인력·보험 전액 부담 / 아르테파인 로고 병기 / 접수 시 아르테파인 회원가입 동시 진행 / 9/19 의향 타진 → 9/26 확답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렌탈 모터사이클 시승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 → 렌탈·아카데미 전환 흐름이 그대로 우리 성과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5,000원/20분 자차보험 절차 검증됨, 사고 처리 기준 보유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수입 약 75만원, 재방문 시승권 쿠폰 발급 가능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일정·차량·인력을 우리가 통제 → 리스크 낮음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용산→인천 15대 이동·정비·복귀 부담 (차량 30만원 + 인력 9명)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고객에게는 '늘 타던 차량'이라 신선도 낮음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회전 처리(접수·동의서·장비) 인력 소요 큼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비수기 11월 야외 시승 수요 불확실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297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15대 집결 11/14 / 접수·동의서 전산 테스트 10/17 / 교관 2인 배치 / 코스 답사 10/17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권고안 (하이브리드)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54406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아르테파인 렌탈 시승을 메인으로 유지(회원 전환 목적, 8~10대로 축소 가능) + ① 스즈키·CFMOTO·야마하 중 1~2개 사를 '게스트 시승 부스'로 유치(브랜드 자체 운영, 야외 별도 스팟·별도 접수). 브랜드 확답이 9/26까지 없으면 ② 단독으로 확정. 두 방식 모두 접수 시 아르테파인 회원가입·빙고 스탬프는 공통 적용.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자유 시승존 운영 상세 — 시승만 자유롭게 (①/② 공통 원칙 + ② 렌탈 기준 물자)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10:00 ~ 16:00 (마지막 접수 15:30) · 20분 단일 코스 · 사전 예약 + 현장 접수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시승 동선을 방문객·주차 동선과 물리적으로 분리, 출발/도착 스팟 통제 인력 상시. 헬멧·글러브 착용, 면허 확인, 동의서 100%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접수 시 아르테파인 회원가입 유도 + 라이더 빙고 '시승' 칸 스탬프 + 재방문 1시간 시승권 쿠폰 (① 브랜드 시승도 우리 리셉션 경유)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5,000원/20분 카드 결제 — 유료여야 자차보험 적용 → 반드시 결제. 절차: 결제 → 전산 동의서 → 면허 확인 → 장비 지급 → 안내 → 출발 → 복귀 점검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인천 + 용산 보유 시승차 최대 15대 인천 집결(11/14). 시승존은 시승만 — 미니게임 차량(교육 차량)은 야외 체험존으로 분리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브랜드가 차량·인스트럭터·보험·접수 운영. 아르테파인은 야외 스팟·텐트 1·전원·안내 인력 2명 제공. 사고·보험 책임은 서면 합의(경영지원실)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인력(② 기준): 접수 2 · 장비/안내 2 · 출도착 통제 2 · 정비/주유 1 · 인스트럭터 2 (① 기준: 안내·통제 3)</a:t>
            </a:r>
            <a:endParaRPr lang="en-US" sz="98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040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9144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시승용 바이크 (② 렌탈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인천·용산 집결, 연료 만충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/ 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혼합,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· 카드단말기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동의서, 예약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·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· 안전봉 · 조끼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4 / 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방식 결정·3사 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접수·결제·동의서·코스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이동·정비·복귀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인스트럭터·안전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배너·쿠폰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보험·브랜드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시승 150회전 · 현장 회원가입 50명 · 재방문 쿠폰 50매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실명 미기재 · 직책 기준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ZONES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구조 — 자유 시승존 / 체험존(야외·실내) / 소장품 마켓 / 포토존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시승존은 '타보는 곳'만, 미니게임은 모두 체험존으로, 부스 테이블은 인플루언서·라이더 소장품 판매 → 수익금 기부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00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시승존 (야외)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600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16:00 상시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시승만 자유롭게 타보는 존. 접수 → 동의서 → 장비 → 20분 단일 코스. ① 3사 브랜드 유치 시 브랜드 스팟 병행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871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담당 · 투어팀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0020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600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야외 체험존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1600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정시 회차제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(11:00 · 14:00) · 푸시바이크 슬라럼 (12:30 · 15:00) — 교육 차량·라바콘 코스, 교관 심판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4871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EFE8F5"/>
          </a:solidFill>
          <a:ln w="12700">
            <a:solidFill>
              <a:srgbClr val="EF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06324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체험존 · 스테이지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정시 회차제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(13:00) · 꽝 없는 다트 (12:05 · 14:05 · 15:05) · 클로징(시상·기부 발표·럭키드로)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950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 · 인천 라운지 · 앰배서더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06324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(실내 부스 테이블)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16:30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인플루언서·라이더가 소장품(용품·굿즈·소품)을 전시·판매. 판매 수익금은 불우이웃 기부 (기관 미정). 팝니다/구해요 보드 병행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950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담당 · 렌탈 팀장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2628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4526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325880" y="4526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전시 · 포토존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14:30 마감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983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출품 8대 관객 투표 · 포토존 백월 + 전시 바이크 · 인스타 인증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413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· 앰배서더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434340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452628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9360" y="4526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995160" y="4526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(전 존 연결)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15:45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309360" y="4983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카드 배부 → 시승·체험·마켓·포토존·카페 스탬프 → 3줄 완성 시 럭키드로 추가 번호</a:t>
            </a:r>
            <a:endParaRPr lang="en-US" sz="88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5413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브랜드·협력사·기관은 입구 파트너존 테이블(E)에서 경품 협찬·홍보만 진행 — 부스 테이블의 주인공은 라이더 셀러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소장품 마켓 (실내 부스 테이블) — 라이더가 팔고, 수익은 기부한다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 셀러 40팀 · 참가비 무료 · 판매 수익금 불우이웃 기부 (기부 기관·비율 미정, 10/10 확정)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7040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취지: 브랜드 부스 나열이 아니라 라이더·인플루언서가 직접 소장품(헬멧·자켓·굿즈·소품·바이크 관련 아무거나)을 파는 벼룩시장. 사는 사람도 파는 사람도 라이더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부스: 실내 부스 테이블 = 소장품 셀러 전용. 브랜드·협력사는 입구 파트너존(E) 테이블에서 경품 협찬·홍보만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 모집: 사전 신청제(구글폼) — 인플루언서 초청 10팀(대표·앰배서더 컨택) + 일반 라이더 30팀 공모. 판매 품목 사전 기재, 40팀 마감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테이블: 인플루언서·초청 셀러는 아카데미 접이식 테이블 제공, 일반 셀러는 본인 테이블/돗자리 지참 (바닥 1.8m × 1.8m 구획)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운영: 셀러 등록 시 기부 동의 → 판매 후 셀러가 리셉션 기부함(현금) 또는 기부 계좌(QR)에 입금 → 리셉션이 셀러별 기부액 기록 → 클로징에서 총 기부액 발표 · 셀러 명단 호명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대상: 불우이웃 (기관 미정 — 지역 복지관·아동 시설 등 후보 검토, 10/10 결정). 기부 영수증 발급 가능한 기관 우선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팝니다/구해요 보드: 입구 벽면 대형 보드 + 포스트잇. 셀러가 아니어도 '구해요/팝니다' 메모 부착 → 라이더 간 무료 매칭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09160"/>
          <a:ext cx="7040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  <a:gridCol w="3017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· 초청 셀러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라이더 셀러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대표·앰배서더 직접 초청 (10팀)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신청 폼 공모 (30팀)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접이식 제공 ·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지참 (규격 안내) · 번호 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소장품·굿즈·사인 아이템 (사전 기재)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소장품·용품 (사전 기재)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(동의 필수)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(동의 필수)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혜택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노출 · 시승권 ·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스티커팩 · 럭키드로 추가 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셀러 초청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셀러 모집·배정·현장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· 기부 동의 문구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(경영지원실 검토)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기관·비율 결정 · 영수증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경영지원실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기부함·기부액 기록·발표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리셉션(앰배서더) ·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셀러 40팀(인플루언서 10 + 라이더 30) · 기부 총액 목표 100만원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체크: 테이블 실사 → 부족분 대여 (9/26)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체험존 ① 실내: 온포인트 클리닉 + OX 퀴즈 / 야외: 거북이 레이스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(실내 체험존 스테이지 · 13:00)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10분 내외 스킬·안전 포인트 강좌 (레이스 시 주의점 등) → 라이더 질문 Q&amp;A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O/X 라인, 문제마다 이동·탈락, 최후 생존 1·2·3등 경품 (협찬 소품)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상식 문제 혼합(만화·바이크 잡학)으로 재미 확보. 사람이 움직여야 추위·이탈 방지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공지: '13:00 OX 퀴즈, 최소 인원 미달 시 미진행' — 모객 장치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1 + 실내 메인 스피커. 준비: 질문지·정답지(대표 검수), 바닥 테이프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(야외 체험존 · 11:00 / 14:00)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느리게 완주(발 안 짚고)한 사람 순으로 1·2·3등 — 아카데미 서킷데이 방식 그대로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과다 시 '제한 시간 내 완주' 방식으로 전환 (현장 판단)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코스: 천테이프로 가로·세로 라인, 아카데미 교육 차량(소형) 사용, 교관 심판 2인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시상은 클로징에서 일괄 (협찬 용품 1·2·3등). 참가 접수는 리셉션에서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안전: 헬멧 필수, 코스 주변 라바콘·인원 통제</a:t>
            </a:r>
            <a:endParaRPr lang="en-US" sz="93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554480"/>
                <a:gridCol w="2103120"/>
                <a:gridCol w="237744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 + OX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(30')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1(대표) · MC 1 · 진행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바닥 테이프, 무선마이크, 질문지, 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운영 / 대표 강의 / 마케팅 문제판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 · 14:00 (각 40')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심판 교관 2 · 접수 1 · 통제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천테이프, 라바콘, 교육 차량 2~3, 헬멧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시승존에서는 미니게임을 하지 않는다 — 체험존(야외 C-1 / 실내 C-2)에서만 회차제로 운영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체험존 ② 실내: 꽝 없는 다트 회전판  /  D. 드레스업 콘테스트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꽝 없는 다트 회전판 (실내 체험존 · 12:05 / 14:05 / 15:05)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방식: 회전하는 대형 다트판에 다트를 던져 꽂힌 구간의 경품을 받는 게임. 원판 제작은 고가 → 회전형 다트판 구매(3만원대), '꽝 없음'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지정 운영(매 회 5~10분)으로 줄 서기 방지. 회당 참가 인원 제한(20명)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경품(소형): 카페 아메리카노·디저트 / 인천·용산 시승권 / 아카데미 1회 체험권 / 스티커 / 협찬 소품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경품은 걸지 않음 — 인천 재방문(시승권) 유도가 목적. 빙고 '다트' 칸 스탬프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콘테스트 (실내 전시 · 투표 14:30 마감)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한정, 마감 시 현장 추가 불가 (미달 시에만 당일 접수)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'실제 타는 바이크' 뽐내기 — 멋지게 or 웃기게. 커스텀 전문 전시가 아님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심사: 관객 투표(번호 스티커/투표함) → 1·2·3등, 클로징 시상(협찬 용품 등급표)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반입: 셀프 라이딩 원칙, 탁송은 참가자 부담. 1등 차량은 클로징 후 포토존 전시</a:t>
            </a:r>
            <a:endParaRPr lang="en-US" sz="93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1920240"/>
                <a:gridCol w="246888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지원(디자인만)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구매·주문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회전판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구간 스티커 ·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다트판 세트 1 (온라인 구매)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(접수) / 교육팀 (현장 차량 관리)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 · 투표용지 · 시상 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투표함 1, 구획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소싱(공통)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(협찬 공문) · 교육팀 (교육권) · 렌탈 (시승권)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시승권·교육권 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(협찬 등급표 p.23)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PHOTO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운영안 — '찍고 싶은 한 장면' 하나에 집중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야외 입구 진입로(메인) · 우천 시 실내 이벤트 스테이지로 이동 · 클로징 시상 배경 겸용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91640"/>
            <a:ext cx="4389120" cy="21488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협찬·후원 로고 라인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30632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 바이크 1대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058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레터링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개념도 — 백월 3,000 × 2,400mm (기존 BMW 판 커버 방식, 아르테파인 KV 재사용) + 바이크 + 소품 2점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017520"/>
                <a:gridCol w="1417320"/>
                <a:gridCol w="5486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입구 진입로 — 방문객이 반드시 지나는 동선, 오전 자연광. 우천·강풍 시 실내 이벤트 스테이지로 백월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현수막 3,000 × 2,400 · '플리마켓' 문구 없이 아르테파인 KV + 협찬 로고 라인 → 2·3회차 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 바이크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오전 아르테파인 대표 렌탈 차량 1대 / 클로징 후 드레스업 1등 차량 교체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'SEE RIDE SHARE CONNECT' · 헬멧 스탠드 2 · 라이더 말풍선 피켓 5종(‘첫 바이크’, ‘오늘도 안전 라이딩’ 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마케팅(디자인·제작) · 인천 라운지(설치)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대체 시 클립 조명 2개 (보유 or 저가 구매). 야외는 자연광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→ #아르테플리마켓 #아르테파인 업로드 → 리셉션 확인 시 스티커 + 럭키드로 추가 번호. 15:30 마감. 14:30 동호회 단체 포토 타임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(리셉션 지급 보조)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공식 사진 촬영 스팟 겸용. 시상 사진·협찬사 단체 사진은 반드시 이 앞에서 (로고 노출 조건)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마케팅(기록)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48463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52303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강한 장면(백월 + 바이크)만 만들고 소품은 최소화 — 줄이 생겨도 회전이 빠르다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10~12시 자연광이 가장 좋으므로 SNS 홍보에 '오전 포토존' 유도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포토 인증 200건 · 해시태그 게시물 도달 집계 (11/20 결과보고)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85216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소계 15만원 (제작물 예산 내)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체험존 NEW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체험존 미니게임 추가 4종 — 타 모터사이클 행사 벤치마킹, 저비용·고회전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추가 비용 10만원 이하 · 자체 인력으로 운영 · 방문객 순환과 고객 전환(회원가입·시승)에 기여 · 소음 유발 콘텐츠 제외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764792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(스탬프 투어)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5361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3×3 빙고 카드 배부. 시승·셀러 구매·포토존·OX 참가·회원가입·카페·파트너존·다트·거북이 중 3줄 완성 시 럭키드로 추가 번호 1개 + 스티커. 방문객을 전 존으로 순환시키는 장치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627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카드 500매 3만 + 스탬프 9개 2만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956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62072"/>
            <a:ext cx="347472" cy="34747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 (야외 체험존)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63347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엔진을 끄고 키를 뺀 소형 교육 차량을 두 손으로 밀며 라바콘 8개 사이를 지그재그 통과하는 타임어택. 12:30 / 15:00. 면허 없는 동승자·가족도 참가 가능 → 일반 방문객 참여 폭 확대. 1·2·3등 협찬 소품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724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라바콘 기존 활용, 스톱워치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30540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959352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포토 인증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73075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촬영 → #아르테플리마켓 #아르테파인 업로드 인증 시 스티커 + 럭키드로 추가 번호. 15:30 마감. 행사 후 SNS 도달 성과로 집계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스티커 기존 수량 내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4151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마케팅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056632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056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846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팝니다/구해요 보드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48280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벽면 대형 폼보드 2장 + 포스트잇. 셀러가 아니어도 '구해요/팝니다/동호회 모집' 메모 → 라이더 간 무료 매칭. 종료 후 사진 촬영해 SNS 후기 콘텐츠로 활용</a:t>
            </a:r>
            <a:endParaRPr lang="en-US" sz="92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919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폼보드 2 + 포스트잇 1.5만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52486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4종 합계 추가 비용 약 7만원 · 엔진 사운드 퀴즈는 주변 소음으로 제외 · 럭키드로 '추가 번호'는 빙고·포토 인증에서만 발급(1인 최대 2개)해 당첨 확률 관리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· SOUND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· BGM 자체 운영안 — 외주 없이 보유 스피커로 음악 재생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 외주 0원 · 보유 장비(스피커·마이크·릴선)만 사용 · 예산 미반영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메인 (스테이지)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보유 스피커 1 + 노트북 유선 연결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BGM · MC 멘트 · OX 퀴즈 · 클로징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서브 (카페·플리마켓)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기존 스피커 시스템 활용, 동일 플레이리스트 저볼륨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배경 음악, 셀러 존 대화 가능 볼륨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야외 포터블 (시승·푸드·포토존)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충전식 포터블 스피커 1 + 스마트폰 블루투스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야외 BGM, 거북이 레이스·슬라럼 출발 신호·안내</a:t>
            </a:r>
            <a:endParaRPr lang="en-US" sz="88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  <a:gridCol w="2194560"/>
                <a:gridCol w="1920240"/>
                <a:gridCol w="7315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/ 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3개 리스트(오픈 업템포 / 낮 라운지 / 클로징 하이라이트) 각 2시간, 로컬 파일로 저장해 통신 끊김 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1 + 예비 스마트폰 1, 3.5mm/USB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무선 핸드마이크(수신기 → 스피커 AUX). MC 1 + 진행 1. 예비 유선 마이크 보유분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장비 실사 (9/26)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전원·안전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릴선 2 + 멀티탭, 통행 구간 케이블 커버(테이프), 스피커 전원 회로 분리, 우천 시 야외 스피커 텐트 내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릴선·테이프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상업 공간 BGM 사용 범위 확인(매장 음악 서비스 가입 여부). 외부 반출·녹화 금지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약관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16:00 사운드 체크: 볼륨 레벨 3포인트 테이프 마킹, 마이크 하울링 위치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별도 단상·트러스 없음. 포토존 백월 앞 바닥 스테이지 + 라바콘·테이프로 관객 라인 표시 → 클로징·시상은 이 위치에서 진행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세리머니 (16:00 ~ 17:00) — 내부 MC 진행 · 시나리오 기반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7218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746504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3990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3990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멘트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99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집객 · 포토존 백월 앞 바닥 스테이지 · BGM 하이라이트 리스트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350008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200253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002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①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002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1·2·3등 → 푸시바이크 슬라럼 1·2·3등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679192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953512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2606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16:15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②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1·2·3등 (관객 투표) → 라이더 빙고 완성자 추첨 3명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3557016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2095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16:25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32095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총액 발표 · 자선경매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2095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기부 총액 발표 · 셀러 명단 호명 → 유명인 교육생 소장품 자선경매(대표 컨택, 사인회 없음). 전액 기부 (기관 미정)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60520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16:45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0" y="3813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협찬사·브랜드 소개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참여·경품 협찬 브랜드 호명, 로고 노출 (후원 조건) · 시승 브랜드 한마디 (① 유치 시)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48970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4764024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44165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16:50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828800" y="4416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4416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추첨: 2등(협찬 용품) 다수 → 1등 → 대상(협찬 메인 1) 순. 빙고·포토 인증 추가 번호 포함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09320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" y="50200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828800" y="50200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멘트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931920" y="5020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회차 예고 · 회원가입/시승 쿠폰 안내 · VIP 굿즈 전달 · 협찬사 단체 사진(포토존) · BGM 종료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0" y="1325880"/>
            <a:ext cx="3931920" cy="4892040"/>
          </a:xfrm>
          <a:prstGeom prst="roundRect">
            <a:avLst>
              <a:gd name="adj" fmla="val 186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5528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· 시나리오 · 담당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955280" y="182880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톤: 매끄러움보다 위트·재미 우선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MC: 내부 진행자 확정 — 앰배서더 또는 직원 중 1인(본부장 지명). 외부 MC는 예비비 내 옵션(30만원 상한)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시나리오·큐시트: OX 질문지, 시상 순서, 경매 품목, 럭키드로 번호 운영 — 본부장 총괄, 마케팅은 큐카드 디자인만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번호: 리셉션에서 사전 신청 확인 시 배부(번호표) + 빙고·포토 인증 추가 번호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시상 보드·백판 제작 대신 포토존 백월 활용, 상장 인쇄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2 + 실내 메인 스피커, BGM 큐는 노트북 담당 1인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시나리오 본부장(10/31 초안) · 경품 인수·순서 인천 라운지 · 큐카드 마케팅(11/7)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파트너·가맹점존  /  VIP 응대  /  깃발·굿즈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 · 가맹점존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가맹점, 협력사, 메이커/파트너, 협업기관(TS 등), (① 유치 시) 시승 브랜드 — 브랜드는 여기서만 (부스 테이블은 라이더 셀러 전용)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중앙 입구 좌·우 가시 위치 (VIP 동선상)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제공: 테이블 1ea, 자체 연출물은 본인 지참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공문: 참여 의사 + 경품 지원 요청, 불참 시에도 경품 협조 요청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홍보물 하단 협력·후원 로고 노출 = 무료 협찬 조건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명단: 대표·본부장 취합 → 리셉션 명단 표기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응대 (협찬사 대표 · 파트너 · 기관)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식사: 일반 푸드·카페 동일 이용(식권 1만원권). 소수일 경우 세미나룸 점심 세팅 옵션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귀가 시 굿즈 세트 증정(스티커·양말·쿠키) — 빈손 귀가 방지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응대: 본부장·대표가 직접, 파트너존 안내 동선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 대표는 클로징 '협찬사 소개' 순서에서 호명·한마디, 포토존 단체 사진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후 사진·결과 공유 메일(11/20) — 2회차 협찬 연결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 깃발 · 굿즈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난간: 협찬사·동호회 깃발(종이 가능, 1회용)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굿즈: 스티커(저가 방수) 300 · VIP 세트 20 · 양말은 샘플 확인 후, 모자는 예산상 제외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전부 마케팅 / 발주·설치는 인천 라운지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포토존은 별도 운영안(p.17) 참조</a:t>
            </a:r>
            <a:endParaRPr lang="en-US" sz="92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310896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파트너·협찬사 공문 발송·확답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/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명단·식권·굿즈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본부장(명단) · F&amp;B(식권) · 인천 라운지(세트 포장)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F&amp;B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깃발·굿즈 제작물 발주·설치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→ 인천 라운지(발주·설치)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발주 · 11/14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· 카페 · 위생 — 부족하거나 부실하면 안 된다, 양이 적더라도 꼼꼼하게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5120640"/>
                <a:gridCol w="292608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아파트 장터 등 묶음 운영팀에 참여 타진 — 비용 지급 없이 저렴한 가격으로 입점. '저렴해 보이는' 이미지 리스크 검토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본부장 · 인천 라운지 담당 — 각자 알아보고 취합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공모·인터뷰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푸드트럭 플랫폼·카페에 모집 공고 → 지원서 받아 메뉴·위생·가격 필터링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밥류 1 (컵밥 등 서서 먹을 수 있는 것) + 간식 1~2 (핫도그·닭강정·어묵 등). 메뉴 중복 금지. 음료는 부르지 않음(카페)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커피·음료는 매장 카페에서 판매. 당일 10% 할인(안). 좌석은 휴게존. 빙고 '카페' 칸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25명 × 1만원 도시락 + 생수 (예산 30만원). 12:00~13:30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식권(1만원권) 20매 제공, 세미나룸 점심 세팅 옵션. 귀가 시 쿠키 등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937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 · 인허가 체크 (확인만, 서류 보관) — 카페 운영 경험이 있는 경영지원실 이사(F&amp;B·카페)에게 일임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285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업체별: 사업자등록증 · 영업신고증(식품접객/즉석판매 등) · 종사자 보건증 · 배상책임보험(권장) 사본 취합 → 세미나룸 보관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신고 필요 여부 확인: 사유지 내 1일 행사라도 외부 음식 판매 포함 → 위생과 사전 문의 (10/17, 경영지원실 지원)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현장: 손 세정·쓰레기 분리수거·소화기 위치, 조리 부스는 시승 동선·주차 동선과 분리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GIVEAWAY &amp; PRIZE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구조 — 브랜드 협찬 물품으로 대상·1등·2등 구성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필요 수량을 먼저 리스트업 → 협찬 공문 → 확답 기준으로 등급 배정 → 부족분만 자체 구매(예산 20만원 상한)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2560320"/>
                <a:gridCol w="50292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(협찬 요청 품목 예시)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헬멧(풀페이스·오픈페이스) 1 또는 라이딩 자켓 — 협찬 메인 1개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블루투스 인터컴 / 라이딩 글러브 프리미엄 / 부츠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체인 클리너 세트 · 넥워머 · 스마트폰 마운트 · 브랜드 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부스 참여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글러브 / 2등 넥워머·소품 / 3등 스티커팩+시승권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+ 자체 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소품 용품 / 2등 카페 쿠폰 / 3등 스티커팩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소품 + 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자켓급 용품 / 2등 인터컴급 / 3등 소품 (머플러류는 호불호 → 제외)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· 다트 · 빙고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쿠폰 · 인천/용산 시승권 · 아카데미 1회 체험권 · 스티커 · 협찬 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발행 (원가 낮음)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교육팀 · 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VIP·인플루언서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+ 양말 + 쿠키 (인플루언서 셀러 10팀 포함)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방문객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(저가 방수)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83880" y="137160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프로세스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66760" y="1920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1901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구성·일정 확정 (본 기획안 승인, 9/15)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366760" y="23774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23591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필요 수량표 작성 — 총 30점 + 소형 60점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366760" y="28346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28163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 명의 공문 발송 (참여 의사 + 경품, 9/19)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66760" y="32918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823960" y="32735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확답 회신 취합 → 등급 배정 (10/10)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366760" y="37490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676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823960" y="37307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부족분 자체 구매 판단 — 상한 20만원 (10/13)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366760" y="4206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667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4187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조건 이행: 로고 노출·클로징 호명·포토존 단체 사진 공유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36676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요청 후보군 (예시)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36676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헬멧·용품 브랜드 / 인터컴 브랜드 / 케미컬·정비 브랜드 / 라이딩 웨어 / 타이어·부품 딜러 / (① 유치 시) 시승 브랜드 / 협업기관(TS·우체국) 판촉물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조직·담당자 · 업무분장 · 인력 · 제작물 · 예산 · 안전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행사 R&amp;R — 직책별 역할 (실명 미기재)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+ 외부 교관·크루·앰배서더 투입 · 렌탈 사업부 = 본부장·렌탈 팀장·용산 라운지 매니저·인천 라운지·투어팀 · F&amp;B·카페 = 경영지원실 이사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08760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47088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앰배서더 (외부 협력)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0080" y="2212848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사업부 (4) — 교육팀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14400" y="2487168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67919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54203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0160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3 · 사원 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898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사업부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14400" y="3172968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36499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322783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80160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 (PM 총괄)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172968"/>
            <a:ext cx="0" cy="4937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66674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529584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80160" y="3529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팀장 (1)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4400" y="3172968"/>
            <a:ext cx="0" cy="7955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3968496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3831336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80160" y="38313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 라운지 매니저 (1)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4400" y="3172968"/>
            <a:ext cx="0" cy="109728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270248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4133088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8016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 담당 (1)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4400" y="3172968"/>
            <a:ext cx="0" cy="139903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457200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8720" y="4434840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8016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투어팀 담당 (1)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" y="4791456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4791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(5)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14400" y="5065776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525780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88720" y="5120640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280160" y="5120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(F&amp;B·카페 · 결재 지원)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14400" y="5065776"/>
            <a:ext cx="0" cy="4937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555955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542239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280160" y="5422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선임 · 주임 (보험·계약·서류·운영본부)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4400" y="5065776"/>
            <a:ext cx="0" cy="7955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" y="586130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88720" y="5724144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280160" y="5724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팀장 · 사원 (디자인·홍보·폼·집계)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69748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승인 · 클리닉 강의 · 유명인·3사 컨택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승인, 시승 방식, 협찬 공문 명의, 경매 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본부장 (PM)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담당 확정 · 시나리오 · 예산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등급 배정, MC 지명, 큐시트, 배치표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총괄 — 시승존·소장품 마켓, 본부장 보좌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절차, 셀러 배정 승인, 당일 A·B존 총괄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차량 이동·정비·복귀 · 용산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15대 이동 11/14 ·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운영 주관 (접수·셀러·시설물·음향·굿즈·POP)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도식도, 셀러 배정, 주문·설치, BGM, 포토존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 · 야외 동선·주차 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답사 10/17, 라바콘 배치, 주차 유도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A·B·C ·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야외·실내 체험존 운영 ·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시공, 심판, 차량·테이블 반입, 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총괄 · 결재·계약 지원 · 기부 기관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섭외, 위생서류, 카페 할인, 식권·도시락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보험·계약·인허가·개인정보 · 폼 문구 검토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자차보험 조건, 3사 합의서, 위생과, 기부 동의 문구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서류 취합 · 운영본부 · 매출·기부액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위생서류 파일, 경품 대장, 기부액 기록, 정산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디자인·제작물·홍보·신청 폼·포토 인증·성과 집계 전담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KV, 백월, 배너·POP, 폼 3종, 문자·SNS, 결과보고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· 빙고·보드 운영 · 동호회 채널 홍보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지원, 클로징 진행, 현장 SNS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· MARKETING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업무 범위 — 디자인·제작물·홍보·신청 폼·성과 집계 전담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마케팅(팀장·사원)이 행사 커뮤니케이션 전 영역을 담당 · 타 부서는 규격·수량·문안 제공과 현장 설치·보조로 협업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532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926080"/>
                <a:gridCol w="146304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 · 제작물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협업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 · KV (키비주얼·컬러)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백월 현수막 · 레터링 · 피켓 (재사용 KV)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X배너 4 · A보드 2 · 코스 안내 배너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(규격·발주)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4종 · 상장 · 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(문안)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카드 · OX 문제판 · 자리 번호·번호판·투표용지·룰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(문제 검수) · 인천 라운지 (출력)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2F 깃발 · 기부 안내 POP·QR · 굿즈(스티커·VIP 세트)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(발주·설치)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결과보고서 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(매출·정산 데이터)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532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743200"/>
                <a:gridCol w="1600200"/>
                <a:gridCol w="777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·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협업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3종 제작·운영 (소장품 셀러·드레스업·시승 예약)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(개인정보·기부 동의 문구 검토)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발송 · 동호회 배포 이미지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(동호회 채널)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11월 집중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카드뉴스 3종 · 계정 운영 · 실시간 게시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(현장 보조)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· 10/20 · 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인스타 포토 인증 이벤트 운영 ·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(스티커·번호 지급)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기록 사진·영상 · 협찬사 단체 사진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사원 (보조)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 (방문·시승·회원가입·SNS 도달·포토 인증·빙고·기부 총액)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 (매출·기부액 데이터)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협찬사 로고 수집 · 후원 로고 라인 적용 · 행사 후 사진 공유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(협찬 확답)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 · 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5102352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부서는 제작물 규격·수량·문안을 '디자인 요청서'로 10/13까지 일괄 제출 → 마케팅 시안 10/24 → 확정 10/31 발주 (인천 라운지). 10/24 이후 추가 요청은 예비비 외주 또는 다음 회차 반영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섭외·주문·결제·서류(협찬 공문, 시설물 주문, 위생서류, 보험)는 해당 사업부가 직접 완결 — 마케팅은 디자인·홍보·집계 범위에 집중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리스크: 10/13 ~ 10/31 제작물 집중 구간과 11월 홍보 집중 구간이 겹치므로 SNS 카드뉴스는 10/20까지 선제작, 문자 문안은 10/31까지 확정</a:t>
            </a:r>
            <a:endParaRPr lang="en-US" sz="9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① — 렌탈 사업부 · 교육 사업부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54480"/>
                <a:gridCol w="4480560"/>
                <a:gridCol w="1463040"/>
                <a:gridCol w="1188720"/>
                <a:gridCol w="1051560"/>
                <a:gridCol w="109728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요금·결제·전산 동의서·면허 확인 절차, 접수대 구성 (① 유치 시 브랜드 접수 연동·회원가입 동시 진행)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코스 설정·답사, 출발/도착 스팟, 야외 동선·주차 통제 계획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동선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용산→인천 15대 이동(11/14), 연료·정비·상태 사진,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셀러 모집·배정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셀러 30팀 공모(폼은 마케팅), 인플루언서 10팀 초청 연계, 자리 번호 배정, 기부 동의 확인, 당일 입퇴장·기부함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폼·번호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 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8대 신청 접수·마감, 탁송 자부담 고지, 투표함 운영·집계, 1등 차량 포토존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번호판·투표용지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 주문·설치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실사→부족분 대여, 텐트·라바콘·조끼·테이프·다트판·투표함·포토존 소품 구매, 제작물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 재작성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실내/야외 분리 배치도, 셀러 자리 번호도, 스피커 3포인트, 포토존 위치, 동선·안전 통제 지점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+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도면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굿즈·경품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스티커·양말 발주, VIP 세트 포장, 다트·빙고 경품 준비, 협찬품 인수·라벨링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 3포인트 세팅, BGM 플레이리스트 3종, 마이크·전원, 리허설·당일 오퍼레이팅 (구매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체험존 (거북이·슬라럼)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설계·천테이프 시공, 라바콘 슬라럼 룰·스톱워치, 심판, 참가 접수, 결과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룰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체험존 (OX·다트)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 출제(대표 검수)·진행 보조, 바닥 라인, 다트 회차 진행 (인천 라운지 스태프 협업)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 문제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문제판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2인 배치, 출발 전 안전 브리핑, 사고 대응 절차·보험 처리 기준 문서화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물자·교육권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테이블·의자 전량, 교육용 차량 2~3대, 헬멧·글러브 반입 / 1회 체험 교육권 발행 조건·수량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C ·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② — 경영지원실 · 대표 · 본부장 · 앰배서더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737360"/>
                <a:gridCol w="4846320"/>
                <a:gridCol w="1645920"/>
                <a:gridCol w="137160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1차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장터 운영팀 등 묶음 입점 타진, 조건(무비용·저가 판매)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+ 본부장·인천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플랫폼·카페 공고, 지원서 필터링·인터뷰, 메뉴 확정(컵밥 1 + 간식 1~2)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위생·인허가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사업자등록·영업신고·보건증 취합, 구청 위생과 사전 문의, 현장 위생 점검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경영지원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운영·식사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할인율 확정, VIP 식권 20매, 스태프 도시락 25개·생수 주문, 세미나룸 점심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· 11/10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행사명·KV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'아르테 플리마켓' 등 후보 중 확정, 키비주얼·컬러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디자인 전체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· 포토존 백월·소품 · 배너/A보드 · 쿠폰·상장·큐카드 · 빙고/OX/POP · 깃발·굿즈 · 결과보고서 (요청서 10/13 마감)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폼·문자·SNS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폼 3종 제작·운영, CRM 문자 발송·동호회 배포, SNS 카드뉴스·게시, 포토 인증 이벤트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· 11월 집중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집계·결과보고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방문·시승·회원가입·SNS 도달·포토 인증·빙고·기부 총액 집계 및 결과보고서 (매출·기부액 데이터는 주임 제공, 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협찬·파트너 공문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의사 + 경품 지원 공문 발송·확답 취합, 후원 로고 수집, 경품 등급 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방식 결정·브랜드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스즈키·CFMOTO·야마하 시승회 의향 타진 → 조건(차량·인력·보험·로고 병기·회원가입) 협의 → ①/②/하이브리드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타진 ·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컨택 · 기부 기관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셀러 10팀 초청, 유명인 소장품 협조, 협업기관 판촉물, 기부 기관·비율 결정(영수증 발급 가능 기관 우선)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경영지원실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MC·시나리오·인력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지명(앰배서더/직원), 클로징 큐시트, OX 질문지 검수, 파트별 전담반 배치표, 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대표(클리닉 강의)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초안 · 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예산·결재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배분표(335만원) 결재 → 견적 취합 → 항목별 집행 승인, 예비비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보험·계약·기부·개인정보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자차보험 조건, (①) 브랜드 합의서·사고 책임, 배상책임보험, 음악 사용 범위, 신청 폼 개인정보·기부 동의 문구 검토, 기부금 전달·영수증 처리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MANPOWER — D-DAY 인력 배치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14 + 교관·크루·앰배서더 9 = 23명 내외 · 외주 인력 없음 · ① 유치 시 시승 인력 9 → 3명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"/>
                <a:gridCol w="4754880"/>
                <a:gridCol w="1828800"/>
                <a:gridCol w="2423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VIP 응대 · 돌발 의사결정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대표는 온포인트 클리닉 강의·VIP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운영본부 (세미나룸)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경품·굿즈 관리, 무전 허브, 서류 보관, 경품 지급 대장·기부액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협찬품 등급별 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사전신청 확인, 럭키드로 번호·빙고 카드 배부, 팝니다/구해요 보드, 참가 접수, 포토 인증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 2인 / 그 외 1인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 접수·결제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결제, 전산 동의서, 면허 확인, 예약 확인 (① 유치 시 회원가입 안내 1인)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2, 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장비·안내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헬멧·글러브 지급, 안전사항·코스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브랜드 측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출도착 통제·정비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출발/도착 스팟 통제, 주유·점검, 상태 사진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조끼·안전봉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Instructor (야외 체험존)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브리핑, 거북이 레이스·슬라럼 심판, OX 진행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교육팀(교관)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체험존 회차 시간대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소장품 마켓·드레스업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안내·자리 관리, 기부함·기부액 기록 보조, 투표함, 드레스업 차량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팀장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기부액은 리셉션·주임과 이중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C-2 실내 체험존·무대·음향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1(앰배서더), 음향/BGM 오퍼레이터 1(노트북·마이크), 다트·OX 진행 보조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외주 없음 → 오퍼레이터 내부 1인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보조·줄 관리·소품 정리, 14:30 단체 포토 타임 진행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리셉션과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운영, 푸드 부스 조율, VIP 식권, 스태프 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업체 인원 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안전·주차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유도, 시승 동선 차단, 응급 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구급함·소화기 위치 숙지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기록·SNS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사진·영상, 실시간 SNS 게시, 포토 인증 집계, 협찬사 단체 사진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2 (교육팀 사원 보조)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검수 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교관·크루·앰배서더 참석 인원 확정 후 파트별 배치표(직책)로 전환 (11/7). 스태프 식사는 12:00~13:30 교대, 도시락 25개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리스트 — 디자인·POP 전체: 마케팅 / 규격 확정·발주·설치: 인천 라운지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예산 75만원 내 — 재사용 가능한 KV 우선, 1회용은 종이·저가 소재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1188720"/>
                <a:gridCol w="1371600"/>
                <a:gridCol w="73152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Size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 현수막 (아르테파인 KV + 협찬 로고 라인, '플리마켓' 문구 제외 → 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× 2,400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BMW 판 커버 방식, 타카 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· 말풍선 피켓 5종 · 헬멧 스탠드 2 · 클립 조명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/ A3 / 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 최소화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플리마켓 행사 배너 (X배너)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행사명·일시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A보드 출력물 (주차·시승 동선·화장실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A보드 프레임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+ 요금·절차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예약 링크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자리 번호 POP · 규격 안내문 · 기부 안내 POP·QR · 팝니다/구해요 보드(폼보드)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/ 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/ A4 / A1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테이프 병행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번호판 · 투표용지 · 투표함 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/ 300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명함 / A4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문제판 · 다트 경품 구간 스티커 · 라이더 빙고 카드 · 슬라럼 룰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1set / 500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/ — / A6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스탬프 9개 별도 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· 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/ 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A5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보드 대신 포토존 백월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2F 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협찬사·동호회 깃발 (종이)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× 900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로고 수집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 · 교육권 · 카페 쿠폰 · 재방문 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유효기간·조건 명기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스티커(갈매기 등) · VIP 세트 패키지 · 양말(샘플 확인 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20 /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6만 + VIP 세트 18만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신청 폼 · SNS 카드뉴스 · CRM 문자 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소계 약 51만원 + 굿즈 24만원 = 75만원 (협찬사 배너·판촉물은 협찬사 제공분으로 대체)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FACILITY &amp;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 · 구매 · 대여 리스트 — 주문 주체는 사업부, 마케팅 제외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1188720"/>
                <a:gridCol w="1737360"/>
                <a:gridCol w="1828800"/>
                <a:gridCol w="7315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 (브랜드·협력사·운영용)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실사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전량 + 부족분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 미제공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캐노피 텐트 (시승 접수·푸드·리셉션 / ① 유치 시 브랜드 스팟 1 추가)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우천·바람 대비 웨이트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20 · 안전봉 4 · 스태프 조끼 6 · 구급함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슬라럼 라바콘 겸용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구획 테이프 · 천테이프(거북이 코스) · 케이블 타이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회전형 대형 다트판 세트 · 투표함 · 번호표 300 · 스톱워치 · 빙고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1 / 300 / 1 / 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원판 제작 대체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 3 · 무선마이크 · 릴선 2 · 케이블 커버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장비 (구매·외주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미반영 · 9/26 실사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20 · 글러브 20 ·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보충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 · 카드단말기 2 · 무전기 6 · 멀티탭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 테스트 사전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쓰레기통·분리수거 · 손세정 · 소화기 위치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 점검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시승 15대 · 교육용 2~3대 이동 (탁송 or 라이딩), 시승 연료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0~10만으로 감소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시설물·장비 소계 약 56만원 (음향은 보유 장비, 0원) + 차량·운송 30만원 (② 렌탈 기준)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배분 — 총 300 ~ 400만원 (기본안 335만원 / 상한 400만원)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음향·무대·DJ·외부 MC 외주 0원, 음향 장비는 보유분 사용(예산 미반영) · 경품은 협찬 중심 · 결재 10/10 목표 · ② 렌탈 시승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  <a:gridCol w="640080"/>
                <a:gridCol w="640080"/>
                <a:gridCol w="1280160"/>
                <a:gridCol w="8686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제작물·굿즈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15만 + 배너·POP·깃발·상장·쿠폰·빙고 카드 36만 + 스티커·VIP 세트 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 p.30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시설물·장비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텐트·테이블 대여 25만 / 안전·구획·이벤트·장비·운영·푸드 비품 31만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FACILITY p.31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(보유 장비)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스피커·무선마이크·릴선 모두 보유분 사용 — 구매·외주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미반영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보완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부족분 자체 구매 + 시승권·교육권·카페 쿠폰 원가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부족분만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도시락 25개 25만 + 생수·간식 5만 + VIP 식권 20매 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차량·운송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용산↔인천 15대 이동 연료·탁송, 시승 연료 — ① 유치 시 0~10만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대수 × 거리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3,000건 × 35원 ≈ 11만 + SNS 광고 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건수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미니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카드·스탬프·폼보드·포스트잇 (슬라럼·포토 인증 0원)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p.18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대비·긴급 구매·외부 MC 옵션(30만 상한)·기부 행사 부대비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 대비 약 21%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335만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 미집행 시 실집행 264만원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8229600" y="128016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8229600" y="46177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수입(안) · 시승 방식별 차이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983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시승 5,000원 × 150회전 = 75만원 수입, 차량비 30만 지출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시승 수입 0, 차량비 0~10만 → 순액 약 45만원 불리하나 인력 6명 절감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매출 · 셀러 참가비 없음 · 소장품 마켓 판매 수익금은 전액 기부(기관 미정) → 성과는 인지도·고객 전환·기부 총액으로 평가</a:t>
            </a:r>
            <a:endParaRPr lang="en-US" sz="8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&amp; RISK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최우선 — 행사 전 체크리스트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· 차량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유료 시승만 운영 (자차보험 적용 조건), 무료 시승 금지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 보험·사고 책임을 서면 합의, 아르테파인 면책 조항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면허 확인 · 전산 동의서 100% · 헬멧/글러브 착용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처리 기준(자기부담금·보험) 사전 문서화, 스태프 숙지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동선 ↔ 방문객·주차 동선 물리적 분리, 출도착 통제 상시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상태 사진: 출고 전 / 복귀 후 · 푸시바이크 슬라럼은 엔진 OFF·키 회수 상태로만</a:t>
            </a:r>
            <a:endParaRPr lang="en-US" sz="92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투어팀 · 교육팀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25196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행사장 · 방문객 · 음향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수용 인원 고려 (푸드는 야외로 분산)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구급함 · 소화기 위치 표시, 응급 연락 체계(가까운 병원)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우천·강풍 대비: 텐트 웨이트, 야외 이벤트·포토존 실내 전환 시나리오, 야외 스피커 텐트 내 이동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전기: 릴선·멀티탭 통행 구간 커버, 스피커 전원 회로 분리, 하울링 위치 사전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볼륨: 실내 셀러 존 대화 가능 수준, 야외는 인근 민원 대비 볼륨 상한 (배기음 재생 콘텐츠 없음)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줄 관리: 전시 바이크 접촉 금지 안내, 분실물·미아 안내 = 리셉션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앰배서더 · 본부장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 · 서류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판매 업체: 사업자등록 · 영업신고 · 보건증 확인 (사본 보관)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위생과 사전 문의 (외부 음식 판매 포함 1일 행사)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사용: 매장 상업 공간 BGM 사용 범위 확인 (외주 DJ 없으므로 자체 책임)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신청 폼 수집 항목 최소화·동의 문구, 럭키드로 후 파기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배상책임보험 가입 여부 검토 (1일 단기)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협찬품 인수증·경품 지급 대장 (세무 증빙) · 포토존 사진 초상권 안내 문구</a:t>
            </a:r>
            <a:endParaRPr lang="en-US" sz="92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경영지원실 선임 · 이사(F&amp;B)</a:t>
            </a:r>
            <a:endParaRPr lang="en-US" sz="9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ISSUES &amp; 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승인 전 확인 필요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(v8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v8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772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57600"/>
                <a:gridCol w="1463040"/>
                <a:gridCol w="105156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주체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시점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— ① 스즈키·CFMOTO·야마하 유치 / ② 아르테파인 렌탈 / 하이브리드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3사 확답 없으면 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 최종 확정 (아르테 플리마켓 / 아르테파인 플리마켓)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KV·폼·배너·포토존 착수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담당 직책 확정 (27건)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기획안 승인과 동시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기본안 335만원 / 상한 400만원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경품 보완액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위치 확정 (야외 입구 진입로 vs 실내 입구) · 전시 바이크 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도식도와 동시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스피커·마이크·릴선 실사 (추가 구매 없음 원칙)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부족 시 대여·차용으로 해결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 (앰배서더/직원) · 외부 MC 옵션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착수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요청 브랜드 리스트 확정 · 대상/1등 경품 확보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미확보 시 자체 구매 20만 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당일 할인율 · 푸드 1차 섭외 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공모 여부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기관 선정 · 기부 비율(전액 vs 일부) · 영수증 발급 · 인플루언서 셀러 10팀 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경영지원실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 발표 문구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시 운영 시나리오 (연기 vs 축소) · 야외 체험존·포토존 실내 전환안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234440"/>
            <a:ext cx="3291840" cy="4983480"/>
          </a:xfrm>
          <a:prstGeom prst="roundRect">
            <a:avLst>
              <a:gd name="adj" fmla="val 2222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v8 대표 승인 · 담당 확정 · 예산 배분 승인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2585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258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발송 · 행사명 확정 · 3사 시승 타진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27340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2734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· 도식도·포토존 위치 · 폼 오픈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32095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32095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확답 · 기부 기관 · 인플루언서 셀러 확정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685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10/31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마감 · 제작물 발주 · 시나리오 초안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160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11/7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 회의 · 배치표 확정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46360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11/14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4636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사운드 체크 · 리허설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5111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326880" y="51114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55869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326880" y="55869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· 협찬사 감사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E.O.D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 · v8 보완안 · 시승 방식·기부 기관 결정 후 v8.1 갱신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2026-09-13T04:25:15Z</dcterms:created>
  <dcterms:modified xsi:type="dcterms:W3CDTF">2026-09-13T04:25:15Z</dcterms:modified>
</cp:coreProperties>
</file>