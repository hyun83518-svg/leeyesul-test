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1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11111"/>
                </a:solidFill>
                <a:latin typeface="Malgun Gothic"/>
              </a:defRPr>
            </a:pPr>
            <a:r>
              <a:rPr sz="1000" b="0" i="0" u="none" strike="noStrike">
                <a:solidFill>
                  <a:srgbClr val="111111"/>
                </a:solidFill>
                <a:latin typeface="Malgun Gothic"/>
              </a:rPr>
              <a:t>기본안 335만원 구성 (만원)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예산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591C"/>
              </a:solidFill>
              <a:effectLst/>
            </c:spPr>
          </c:dPt>
          <c:dPt>
            <c:idx val="1"/>
            <c:bubble3D val="0"/>
            <c:spPr>
              <a:solidFill>
                <a:srgbClr val="1F4E79"/>
              </a:solidFill>
              <a:effectLst/>
            </c:spPr>
          </c:dPt>
          <c:dPt>
            <c:idx val="2"/>
            <c:bubble3D val="0"/>
            <c:spPr>
              <a:solidFill>
                <a:srgbClr val="7A4E9E"/>
              </a:solidFill>
              <a:effectLst/>
            </c:spPr>
          </c:dPt>
          <c:dPt>
            <c:idx val="3"/>
            <c:bubble3D val="0"/>
            <c:spPr>
              <a:solidFill>
                <a:srgbClr val="F2A65A"/>
              </a:solidFill>
              <a:effectLst/>
            </c:spPr>
          </c:dPt>
          <c:dPt>
            <c:idx val="4"/>
            <c:bubble3D val="0"/>
            <c:spPr>
              <a:solidFill>
                <a:srgbClr val="2E7D32"/>
              </a:solidFill>
              <a:effectLst/>
            </c:spPr>
          </c:dPt>
          <c:dPt>
            <c:idx val="5"/>
            <c:bubble3D val="0"/>
            <c:spPr>
              <a:solidFill>
                <a:srgbClr val="5B8DB8"/>
              </a:solidFill>
              <a:effectLst/>
            </c:spPr>
          </c:dPt>
          <c:dPt>
            <c:idx val="6"/>
            <c:bubble3D val="0"/>
            <c:spPr>
              <a:solidFill>
                <a:srgbClr val="C0392B"/>
              </a:solidFill>
              <a:effectLst/>
            </c:spPr>
          </c:dPt>
          <c:dPt>
            <c:idx val="7"/>
            <c:bubble3D val="0"/>
            <c:spPr>
              <a:solidFill>
                <a:srgbClr val="9ACD8E"/>
              </a:solidFill>
              <a:effectLst/>
            </c:spPr>
          </c:dPt>
          <c:dPt>
            <c:idx val="8"/>
            <c:bubble3D val="0"/>
            <c:spPr>
              <a:solidFill>
                <a:srgbClr val="9E9E9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Sheet1!$A$2:$A$10</c:f>
              <c:strCache>
                <c:ptCount val="9"/>
                <c:pt idx="0">
                  <c:v>제작물·굿즈</c:v>
                </c:pt>
                <c:pt idx="1">
                  <c:v>시설물·장비</c:v>
                </c:pt>
                <c:pt idx="2">
                  <c:v>음향(자체)</c:v>
                </c:pt>
                <c:pt idx="3">
                  <c:v>경품 보완</c:v>
                </c:pt>
                <c:pt idx="4">
                  <c:v>F&amp;B</c:v>
                </c:pt>
                <c:pt idx="5">
                  <c:v>차량·운송</c:v>
                </c:pt>
                <c:pt idx="6">
                  <c:v>홍보</c:v>
                </c:pt>
                <c:pt idx="7">
                  <c:v>미니 이벤트</c:v>
                </c:pt>
                <c:pt idx="8">
                  <c:v>예비비</c:v>
                </c:pt>
              </c:strCache>
            </c:strRef>
          </c:cat>
          <c:val>
            <c:numRef>
              <c:f>Sheet1!$B$2:$B$10</c:f>
              <c:numCache>
                <c:ptCount val="9"/>
                <c:pt idx="0">
                  <c:v>70</c:v>
                </c:pt>
                <c:pt idx="1">
                  <c:v>56</c:v>
                </c:pt>
                <c:pt idx="2">
                  <c:v>17</c:v>
                </c:pt>
                <c:pt idx="3">
                  <c:v>20</c:v>
                </c:pt>
                <c:pt idx="4">
                  <c:v>50</c:v>
                </c:pt>
                <c:pt idx="5">
                  <c:v>30</c:v>
                </c:pt>
                <c:pt idx="6">
                  <c:v>26</c:v>
                </c:pt>
                <c:pt idx="7">
                  <c:v>7</c:v>
                </c:pt>
                <c:pt idx="8">
                  <c:v>59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822960"/>
            <a:ext cx="5120640" cy="5120640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2011680"/>
            <a:ext cx="2743200" cy="2743200"/>
          </a:xfrm>
          <a:prstGeom prst="ellipse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ARTEFINE INCHEON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아르테 플리마켓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RIDERS DAY &amp; FLEA MARKET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 PLAN  ·  v2 보완안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11. 15 (SUN)  10:00 – 17:00   |   아르테파인 인천점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434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BBB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 반영: 예산 300~400만원 확정 프레임 · 음향/무대 외주 없이 자체 스피커 운영 · 협찬 경품 1·2·3등 구조 · 신규 미니 이벤트 · 담당자/타임라인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806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 · RIDE · SHARE · CONNECT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레인조모빌리티 · 아르테파인   |   INTERNAL · DRAFT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아르테 플리마켓 — 행사 개요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(v2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v2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7498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6309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TITLE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 아르테 플리마켓 — 라이더스 데이 &amp; 플리마켓 (가칭, 마케팅 확정)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VENUE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아르테파인 인천점 (실내 라운지·카페·세미나룸 + 야외 주차장·진입로)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 11. 15 (SUN) 10:00 ~ 17:00   ※ 세팅 11/14(토), 철수 11/15 17:00~19:00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HOST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주최 아르테파인 / 주관 레인조모빌리티 (레인조아카데미)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SUPPORT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협력·후원: TS 한국교통안전공단·우체국 등 협업기관 + 협찬 브랜드 (경품 협찬 → 로고 노출)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ENTRY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입장 무료 · 셀러 참가비 무료 · 시승 5,000원/20분 (자차보험 적용 조건)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TARGET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 방문객 500명 · 셀러 40팀 · 드레스업 8대 · 시승 150회전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BUDGET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 300 ~ 400만원 (기본안 335만원 / 상한 400만원) — 음향·무대 외주 없음, 경품은 협찬 중심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CONTENTS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· 플리마켓/브랜드존 · 온포인트 클리닉+OX 퀴즈 · 거북이 레이스 · 드레스업 콘테스트 · 다트 · 라이더 빙고 · 엔진 사운드 퀴즈 · 푸시바이크 슬라럼 · 자선경매 · 럭키드로 · 푸드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183880" y="1280160"/>
            <a:ext cx="3611880" cy="4937760"/>
          </a:xfrm>
          <a:prstGeom prst="roundRect">
            <a:avLst>
              <a:gd name="adj" fmla="val 2025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 보완안 변경점 (9/13)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1783080"/>
            <a:ext cx="32918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총액 300~400만원 프레임 확정 → 항목별 배분 (p.27)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음향·무대·DJ 외주 전면 제외 → 매장 보유 스피커 + 노트북 플레이리스트 + 무선마이크 자체 운영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경품은 브랜드 협찬 물품으로 구성, 콘테스트별 1·2·3등 + 럭키드로 대상/1등/2등 등급표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모터사이클 행사 벤치마킹 미니 이벤트 5종 추가 (빙고·사운드 퀴즈·푸시바이크 슬라럼·포토 인증·팝니다/구해요 보드)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항목별 담당자(직책 기준) 및 주차별 타임라인·마일스톤 명시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MC는 내부 진행자로 확정, 외부 MC는 예비비 옵션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PURPOSE &amp; CONCEPT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핵심 목적 &amp; 컨셉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024128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플리마켓이 아닌 '아르테파인 브랜드 경험' — 방문 → 시승 → 렌탈 → 아카데미로 이어지는 고객 전환의 틀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(v2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24128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1783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바이크와 라이딩 용품을 보고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971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플리마켓 · 브랜드존 · 드레스업 전시 · 팝니다/구해요 보드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64408" y="150876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47288" y="1691640"/>
            <a:ext cx="640080" cy="64008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47288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178808" y="1783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RIDE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3447288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다양한 바이크를 직접 타보고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447288" y="2971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시승존(15대) · 거북이 레이스 · 푸시바이크 슬라럼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63056" y="150876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45936" y="1691640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45936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077456" y="1783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SHARE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345936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바이크와 라이딩 경험을 공유하고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345936" y="2971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소장품 자선경매 · 라이더 셀러 · 포토 인증 · 엔진 사운드 퀴즈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061704" y="150876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44584" y="1691640"/>
            <a:ext cx="640080" cy="640080"/>
          </a:xfrm>
          <a:prstGeom prst="ellipse">
            <a:avLst/>
          </a:prstGeom>
          <a:solidFill>
            <a:srgbClr val="7A4E9E"/>
          </a:solidFill>
          <a:ln w="12700">
            <a:solidFill>
              <a:srgbClr val="7A4E9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244584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976104" y="1783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7A4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9244584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라이더·브랜드·아르테파인이 연결되는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244584" y="2971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온포인트 클리닉 · 파트너존 · 라이더 빙고 · 아카데미 교육권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36576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아르테파인 인지도 강화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365760" y="4498848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시승·렌탈 매장을 넘어 라이더 문화 공간으로 포지셔닝. 1회차를 잘 끝내야 2회·3회로 이어진다.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3264408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방문객의 고객 전환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3264408" y="4498848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→ 시승(5,000원/20분) → 회원가입·렌탈 → 아카데미 교육 연결. 재방문 쿠폰·라이더 빙고 병행.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163056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라이더 커뮤니티 구축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6163056" y="4498848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부스 나열이 아닌 일반 라이더가 직접 파는 '벼룩시장' 참여형. 매번 똑같은 제휴부스와 차별화.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9061704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레인조 생태계 연결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9061704" y="4498848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아르테파인(직영) → 레인조아카데미 → 가맹점 → 메이커/파트너사 순으로 노출·연결.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5669280"/>
            <a:ext cx="11430000" cy="548640"/>
          </a:xfrm>
          <a:prstGeom prst="roundRect">
            <a:avLst>
              <a:gd name="adj" fmla="val 1333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  “라이더들이 타고, 보고, 배우고, 자랑하고, 교류하는 라이더 페스티벌”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DECISION LOG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결정사항 누적 — 9/7 기획회의 + 9/13 v2 보완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(v2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v2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05256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내용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11/15(일) 확정. 비수기 진입 시기 → 인천 포커스, 용산·아카데미 차량 인천 집결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방문객 500명 · 사전 신청 기반 홍보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무조건 진행. 5,000원/20분(정상가 23,000원/h 비율가), 단일 코스, 전산 시승동의서·면허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참가비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무료. 브랜드·협력사는 아카데미 접이식 테이블 대여, 개인 셀러는 자기 테이블/돗자리 지참(바닥 구획)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존 배치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시승존 야외, 플리마켓·브랜드존 실내, 푸드 야외, 파트너존 입구 좌우 가시 위치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 300~400만원. 기본안 335만원 + 예비비 포함 상한 400만원. 항목별 배분표로 결재 (p.27)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 v2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음향·무대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외주(DJ코리아·음향업체·무대) 전면 제외. 매장 보유 스피커 + 노트북 BGM + 무선마이크 자체 운영. 무대는 포토존 현수막 앞 바닥 스테이지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 v2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브랜드 협찬 물품으로 구성. 럭키드로 대상·1등·2등 / 콘테스트별 1·2·3등 등급표 작성 후 협찬 공문 발송 (p.19)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 v2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OX 퀴즈(클리닉 결합)·거북이 레이스·다트·드레스업 유지 + 신규 미니 이벤트 5종 (라이더 빙고·엔진 사운드 퀴즈·푸시바이크 슬라럼·포토 인증·팝니다/구해요 보드)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9/7 + v2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진행자 확정(본부장 지명). 외부 MC는 예비비 범위 내 옵션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 v2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자체 섭외(장터 운영팀) → 2차 푸드트럭 공모. 컵밥 1 + 간식 1~2. 음료·커피는 카페(당일 10% 할인 검토)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업무분장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디자인·제작물만 마케팅. 섭외·주문·서류는 사업부별 담당자(직책) 지정 → 본부장 실명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9/7 + v2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TIMETABLE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D-DAY 11/15 (SUN) 타임테이블 (안)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024128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시승은 상시 20분 회전 · 무대 이벤트는 정시 운영 · BGM은 자체 스피커로 상시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(v2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24128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v2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3000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828800"/>
                <a:gridCol w="1737360"/>
                <a:gridCol w="3017520"/>
                <a:gridCol w="1234440"/>
                <a:gridCol w="1645920"/>
                <a:gridCol w="12801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시승존 (야외)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플리마켓·브랜드존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이벤트존 / 스테이지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 드레스업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 / 카페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REMARK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09:00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 15대 정렬·점검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09:30 스태프 브리핑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셀러 입장·부스 세팅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스피커·마이크 사운드 체크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BGM 플레이리스트 재생 시작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출품 차량 8대 입고·배치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부스 세팅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09:50 전체 스탠바이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 · 시승 1회차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(20분 회전, 예약+현장)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 · 팝니다/구해요 보드 오픈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오프닝 멘트(내부 MC) · 라이더 빙고 카드 배부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관람·투표 시작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OPEN (당일 할인)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리셉션 2인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거북이 레이스 1차 (야외 11:00)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사운드 퀴즈 1차 (실내 11:30)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관람·투표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다트 12:05 · 푸시바이크 슬라럼 1차 (야외 12:30)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관람·투표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점심 피크 · VIP 세미나룸(옵션)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스태프 교대 식사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온포인트 클리닉(대표 10') + OX 퀴즈 (13:00)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관람·투표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OX 최소 인원 사전 공지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거북이 레이스 2차 (14:00) · 다트 14:05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사운드 퀴즈 2차 (14:40)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투표 마감 14:30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운영 (마지막 접수 15:30)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· 포토 인증 마감 15:30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푸시바이크 슬라럼 2차 (15:00) · 다트 15:05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빙고 완성 카드 접수 마감 15:45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종료 · 차량 정리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(16:30 정리 시작)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CLOSING: 시상(거북이·슬라럼·드레스업·빙고) → 자선경매 → 협찬사 소개 → 럭키드로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 시나리오 60~90분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철수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종료 멘트 · 굿즈 배포(VIP) · BGM 종료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철수 17:00~19:00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365760" y="6144768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시승 20분 × 15대 기준 시간당 최대 45회전 이론치 — 접수·동의서·장비 착용 시간 포함해 실제 회전은 인력 배치에 따라 결정 (목표 150회전)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SET-UP &amp; STRIKE SCHEDULE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D-1 / D-DAY / D+1 세팅·철수 일정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(v2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v2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6400800"/>
                <a:gridCol w="25603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Division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Description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11/14 (SAT)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SET-UP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10:00 – 13:00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용산·아카데미 차량 인천 이동 (시승 15대), 차량 상태 사진 기록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아카데미 접이식 테이블·의자 전량 인천 반입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야외 존 구획: 시승 출발/도착 스팟, 거북이 레이스·푸시바이크 슬라럼 코스(천테이프·라바콘), 푸드 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렌탈사업부 인천점 매니저 / 교육사업부 수석교관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13:00 – 16:00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실내 존 구획 라인 테이프, 셀러 자리 번호 부착, 팝니다/구해요 보드 설치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포토존 설치(현수막 + 기존 판 커버), 2층 난간 협찬사·동호회 깃발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배너·A보드·POP 설치, 시상 보드·경품 테이블 세팅(협찬품 라벨링)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매니저(설치) / 마케팅 디자이너(제작물 검수)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16:00 – 18:00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자체 음향 세팅: 매장 스피커 실내 2 + 야외 포터블 1, 노트북 BGM·무선마이크 테스트, 릴선 커버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엔진 사운드 퀴즈 음원 재생 테스트, MC 리허설(시나리오·큐시트), 경품·굿즈 수량 대조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운영 스태프 사전 교육 (동선·안전·시승 절차)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/ 음향 담당(렌탈 인천 스태프) / 전 사업부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11/15 (SUN)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D-DAY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08:00 – 09:50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최종 점검: 차량·연료, 시승 접수대(노트북·동의서 전산), 헬멧·글러브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셀러·브랜드 입장 및 세팅 지원, 푸드 부스 위생서류 현장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09:30 전체 브리핑 / 09:50 스탠바이 · BGM 재생 시작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사업부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10:00 – 17:00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본 행사 (Timetable 기준)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17:00 – 19:00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셀러 철수 안내, 시승 차량 상태 점검·사진, 제작물 철거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대여 테이블 회수, 음향 장비 원위치, 쓰레기·주차장 정리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렌탈사업부 / 교육사업부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11/16 (MON)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D+1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차량 용산·아카데미 복귀, 대여 물자 반납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결과 리뷰(방문·시승·회원가입·매출·빙고 완성률), 협찬사 감사 안내·사진 공유, 결과보고(11/20 목표)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/ 마케팅(성과 집계)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TIMELINE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 – 11월 프로젝트 타임라인 (D-63 기준, 주차별)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024128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막대 = 진행 구간 · ◆ = 마일스톤 · 담당은 직책 기준 (실명은 본부장 확정 후 기입)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(v2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24128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워크스트림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1417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1417320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9/15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42232" y="1417320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9/22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992624" y="1417320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9/29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843016" y="1417320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10/6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693408" y="1417320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10/13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543800" y="1417320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10/20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394192" y="1417320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10/27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9244584" y="1417320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11/3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094976" y="1417320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11/10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945368" y="1417320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11/15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1746504"/>
            <a:ext cx="11430000" cy="384048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5760" y="17647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기획·담당자 확정·대표 승인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2194560" y="17647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본부장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37560" y="1837944"/>
            <a:ext cx="1609344" cy="201168"/>
          </a:xfrm>
          <a:prstGeom prst="roundRect">
            <a:avLst>
              <a:gd name="adj" fmla="val 45455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34740" y="1856232"/>
            <a:ext cx="164592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5760" y="2148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행사명·KV·제작물 디자인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194560" y="21488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디자이너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337560" y="2221992"/>
            <a:ext cx="6711696" cy="201168"/>
          </a:xfrm>
          <a:prstGeom prst="roundRect">
            <a:avLst>
              <a:gd name="adj" fmla="val 45455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85132" y="2240280"/>
            <a:ext cx="164592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37092" y="2240280"/>
            <a:ext cx="164592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2514600"/>
            <a:ext cx="11430000" cy="384048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65760" y="25328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 공문 → 경품 확답·등급표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2194560" y="25328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대표·본부장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337560" y="2606040"/>
            <a:ext cx="4160520" cy="201168"/>
          </a:xfrm>
          <a:prstGeom prst="roundRect">
            <a:avLst>
              <a:gd name="adj" fmla="val 45455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34740" y="2624328"/>
            <a:ext cx="164592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85916" y="2624328"/>
            <a:ext cx="164592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65760" y="29169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 폼·셀러/드레스업 모집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2194560" y="29169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렌탈 인천 매니저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187952" y="2990088"/>
            <a:ext cx="5861304" cy="201168"/>
          </a:xfrm>
          <a:prstGeom prst="roundRect">
            <a:avLst>
              <a:gd name="adj" fmla="val 45455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85132" y="3008376"/>
            <a:ext cx="164592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37092" y="3008376"/>
            <a:ext cx="164592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3282696"/>
            <a:ext cx="11430000" cy="384048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65760" y="33009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푸드 1차 섭외 → 2차 공모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2194560" y="330098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F&amp;B 이사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187952" y="3374136"/>
            <a:ext cx="5010912" cy="201168"/>
          </a:xfrm>
          <a:prstGeom prst="roundRect">
            <a:avLst>
              <a:gd name="adj" fmla="val 45455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85916" y="3392424"/>
            <a:ext cx="164592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886700" y="3392424"/>
            <a:ext cx="164592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65760" y="36850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코스·동의서·보험 확인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2194560" y="36850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렌탈 인천 매니저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038344" y="3758184"/>
            <a:ext cx="4160520" cy="201168"/>
          </a:xfrm>
          <a:prstGeom prst="roundRect">
            <a:avLst>
              <a:gd name="adj" fmla="val 45455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86700" y="3776472"/>
            <a:ext cx="164592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5760" y="4050792"/>
            <a:ext cx="11430000" cy="384048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65760" y="4069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 자체 세팅·BGM·사운드퀴즈 음원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2194560" y="4069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렌탈 인천 스태프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888736" y="4142232"/>
            <a:ext cx="5010912" cy="201168"/>
          </a:xfrm>
          <a:prstGeom prst="roundRect">
            <a:avLst>
              <a:gd name="adj" fmla="val 45455"/>
            </a:avLst>
          </a:prstGeom>
          <a:solidFill>
            <a:srgbClr val="7A4E9E"/>
          </a:solidFill>
          <a:ln w="12700">
            <a:solidFill>
              <a:srgbClr val="7A4E9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886700" y="4160520"/>
            <a:ext cx="164592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7A4E9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437876" y="4160520"/>
            <a:ext cx="164592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7A4E9E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65760" y="4453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시설물·굿즈 주문·입고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2194560" y="44531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렌탈 인천 매니저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739128" y="4526280"/>
            <a:ext cx="4160520" cy="201168"/>
          </a:xfrm>
          <a:prstGeom prst="roundRect">
            <a:avLst>
              <a:gd name="adj" fmla="val 45455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737092" y="4544568"/>
            <a:ext cx="164592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437876" y="4544568"/>
            <a:ext cx="164592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65760" y="4818888"/>
            <a:ext cx="11430000" cy="384048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365760" y="48371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 집중 (CRM·SNS·동호회)</a:t>
            </a:r>
            <a:endParaRPr lang="en-US" sz="950" dirty="0"/>
          </a:p>
        </p:txBody>
      </p:sp>
      <p:sp>
        <p:nvSpPr>
          <p:cNvPr id="64" name="Text 62"/>
          <p:cNvSpPr txBox="1"/>
          <p:nvPr/>
        </p:nvSpPr>
        <p:spPr>
          <a:xfrm>
            <a:off x="2194560" y="483717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디자이너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7589520" y="4910328"/>
            <a:ext cx="4160520" cy="201168"/>
          </a:xfrm>
          <a:prstGeom prst="roundRect">
            <a:avLst>
              <a:gd name="adj" fmla="val 45455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587484" y="4928616"/>
            <a:ext cx="164592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365760" y="52212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큐시트·인력 배치·안전 브리핑</a:t>
            </a:r>
            <a:endParaRPr lang="en-US" sz="950" dirty="0"/>
          </a:p>
        </p:txBody>
      </p:sp>
      <p:sp>
        <p:nvSpPr>
          <p:cNvPr id="68" name="Text 66"/>
          <p:cNvSpPr txBox="1"/>
          <p:nvPr/>
        </p:nvSpPr>
        <p:spPr>
          <a:xfrm>
            <a:off x="2194560" y="522122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본부장·수석교관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8439912" y="5294376"/>
            <a:ext cx="3310128" cy="201168"/>
          </a:xfrm>
          <a:prstGeom prst="roundRect">
            <a:avLst>
              <a:gd name="adj" fmla="val 45455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437876" y="5312664"/>
            <a:ext cx="164592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65760" y="5586984"/>
            <a:ext cx="11430000" cy="384048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365760" y="56052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세팅 · D-DAY · 철수·결과보고</a:t>
            </a:r>
            <a:endParaRPr lang="en-US" sz="950" dirty="0"/>
          </a:p>
        </p:txBody>
      </p:sp>
      <p:sp>
        <p:nvSpPr>
          <p:cNvPr id="73" name="Text 71"/>
          <p:cNvSpPr txBox="1"/>
          <p:nvPr/>
        </p:nvSpPr>
        <p:spPr>
          <a:xfrm>
            <a:off x="2194560" y="56052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사업부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10140696" y="5678424"/>
            <a:ext cx="1609344" cy="201168"/>
          </a:xfrm>
          <a:prstGeom prst="roundRect">
            <a:avLst>
              <a:gd name="adj" fmla="val 45455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288268" y="5696712"/>
            <a:ext cx="164592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291840" y="1709928"/>
            <a:ext cx="0" cy="42976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142232" y="1709928"/>
            <a:ext cx="0" cy="42976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992624" y="1709928"/>
            <a:ext cx="0" cy="42976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843016" y="1709928"/>
            <a:ext cx="0" cy="42976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693408" y="1709928"/>
            <a:ext cx="0" cy="42976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543800" y="1709928"/>
            <a:ext cx="0" cy="42976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394192" y="1709928"/>
            <a:ext cx="0" cy="42976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244584" y="1709928"/>
            <a:ext cx="0" cy="42976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094976" y="1709928"/>
            <a:ext cx="0" cy="42976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945368" y="1709928"/>
            <a:ext cx="0" cy="42976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795760" y="1709928"/>
            <a:ext cx="0" cy="42976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945368" y="1709928"/>
            <a:ext cx="850392" cy="4297680"/>
          </a:xfrm>
          <a:prstGeom prst="rect">
            <a:avLst/>
          </a:prstGeom>
          <a:solidFill>
            <a:srgbClr val="E8591C">
              <a:alpha val="15000"/>
            </a:srgbClr>
          </a:solidFill>
          <a:ln w="12700">
            <a:solidFill>
              <a:srgbClr val="E8591C">
                <a:alpha val="15000"/>
              </a:srgbClr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365760" y="6053328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주요 마일스톤: 9/19 협찬 공문 발송·행사명 확정 → 9/26 신청 폼 오픈 → 10/10 협찬 확답·예산(안) 결재 → 10/31 모집 마감·제작물 발주 → 11/7 최종 점검 회의 → 11/14 세팅 → 11/15 D-DAY → 11/20 결과보고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TIMELINE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주차별 마일스톤 &amp; 담당 (Detail)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(v2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v2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5760720"/>
                <a:gridCol w="2377440"/>
                <a:gridCol w="228600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Week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Milestone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(직책)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 / 체크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9/15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v2 기획안 대표 승인 · 담당자 실명 확정 · 행사명·KV 방향 확정 · 협찬·파트너 공문 발송(참여 의사 + 경품)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대표 · 마케팅 디자이너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기획안, 공문 발송 리스트, 경품 필요 수량표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9/22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 신청 폼 오픈(셀러·드레스업·시승 예약) / 푸드 1차 자체 섭외 / 굿즈 샘플 확인 / 존 배치 도식도 재작성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디자이너 · 렌탈 인천 매니저 · F&amp;B 이사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 폼 링크 3종, 도식도 v1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9/29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확답 1차 취합 · 경품 등급표 가안 / 셀러 모집 홍보 시작(SNS·CRM) / 음향 자체 장비 실사(스피커·마이크·릴선)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마케팅 · 렌탈 인천 스태프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회신표, 장비 실사표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10/6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확답 마감(10/10) → 경품 리스트·예산(안) 335만원 결재 / 푸드 1차 결과 판단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→ 대표 승인 · F&amp;B 이사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 결재본, 경품 등급표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10/13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2차 공모·인터뷰(필요 시) / 제작물 디자인 시안 / MC 시나리오 초안 / 시승 코스 답사·동의서 전산 테스트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 이사 · 마케팅 · 본부장 · 렌탈 인천 매니저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시안 1차, 큐시트 초안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10/20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BGM 플레이리스트·엔진 사운드 퀴즈 음원 제작 / 빙고 카드·슬라럼 룰 확정 / 제작물 시안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스태프 · 교육 수석교관 · 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음원 파일, 빙고 카드 시안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10/27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제작물 발주(10/31) / 셀러·드레스업 모집 마감(10/31) / 시설물(텐트·라바콘·테이프·다트판·무선마이크) 주문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매니저 · 교육 수석교관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발주서, 셀러 배정표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11/3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집중 홍보(CRM 문자·SNS·동호회) / 시승 사전 예약 오픈 / 위생서류 취합 / 인력 배치표 확정(11/7) / 최종 점검 회의(11/7)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· 렌탈 · F&amp;B 이사 · 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실명 배치표, 위생서류 파일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11/10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큐시트·안전 브리핑 자료 / 경품·굿즈 입고 확인·라벨링 / 11/14 세팅·리허설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사업부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큐시트, 경품 인수표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11/15 (일)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D-DAY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사업부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11/16 – 11/20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철수·복귀 / 결과 집계·보고(11/20) / 협찬사 감사 안내·사진 공유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결과보고서, 정산 증빙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LAYOUT (개념도)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실내 / 야외 분리 원칙 — 정식 도식도는 현장 실측 후 재작성 (9/26)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024128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스피커 위치 = 자체 음향 3포인트 (실내 2 · 야외 포터블 1)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(v2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24128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5486400" cy="4846320"/>
          </a:xfrm>
          <a:prstGeom prst="rect">
            <a:avLst/>
          </a:prstGeom>
          <a:solidFill>
            <a:srgbClr val="DCE8F4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1508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OUTDOOR 야외 (주차장·진입로)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417320"/>
            <a:ext cx="5486400" cy="4846320"/>
          </a:xfrm>
          <a:prstGeom prst="rect">
            <a:avLst/>
          </a:prstGeom>
          <a:solidFill>
            <a:srgbClr val="FCF1D8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508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INDOOR 실내 (라운지·카페·세미나룸)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1874520"/>
            <a:ext cx="32004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19385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시승·렌탈존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2212848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출발/도착 스팟 · 차량 15대 정렬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접수대(노트북·동의서 전산) · 헬멧/글러브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코스 안내 배너 · 통제 인력 상시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840480" y="1874520"/>
            <a:ext cx="18745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31920" y="19385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C-1 거북이 레이스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푸시바이크 슬라럼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2414016"/>
            <a:ext cx="16916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천테이프 코스 (가로·세로)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교관 심판 · 라바콘 슬라럼 8개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OFF 밀기 타임어택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3749040"/>
            <a:ext cx="22860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8130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 푸드 존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408736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컵밥 1 + 간식 1~2 부스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사업자·영업신고·보건증 확인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코스 진출입과 분리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926080" y="3749040"/>
            <a:ext cx="27889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017520" y="38130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 주차 · 방문객 동선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017520" y="408736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통제 인력 배치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동선과 물리적 분리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야외 포터블 스피커 1 (BGM 전용)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02920" y="5120640"/>
            <a:ext cx="52120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51846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포토존 (야외 or 입구)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545896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현수막 + 기존 판 커버 · 아르테파인 KV (재사용 가능) · 인스타 포토 인증 스팟 · 클로징 무대 배경 겸용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446520" y="1874520"/>
            <a:ext cx="1554480" cy="17373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37960" y="1938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리셉션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537960" y="221284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사전신청 확인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럭키드로 번호 · 빙고 카드 배부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 POP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138160" y="1874520"/>
            <a:ext cx="173736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0" y="19385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 파트너·가맹점존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2212848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입구 좌·우 가시 위치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협력사 테이블 1ea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VIP 동선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0012680" y="1874520"/>
            <a:ext cx="1645920" cy="17373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104120" y="19385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 · 라운지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0104120" y="2212848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커피·음료 판매(당일 할인)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좌석 = 휴게존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실내 스피커 1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46520" y="3749040"/>
            <a:ext cx="33832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37960" y="3813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플리마켓 · 브랜드존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537960" y="408736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브랜드/협력사: 접이식 테이블 대여 · 개인 셀러: 자기 테이블·돗자리, 바닥 구획 테이프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팝니다/구해요 보드 (입구 측 벽면)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966960" y="3749040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058400" y="38130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 드레스업 전시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0058400" y="4087368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신청 8대 한정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관객 투표함 · 번호판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46520" y="5120640"/>
            <a:ext cx="33832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7A4E9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537960" y="51846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A4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C-2 이벤트 스테이지 (바닥 무대)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6537960" y="545896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온포인트 클리닉 + OX 바닥 라인 · 다트 · 엔진 사운드 퀴즈 · 클로징(시상·경매·럭키드로)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실내 메인 스피커 1 + 무선마이크 (무대 단 없음)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9966960" y="5120640"/>
            <a:ext cx="16916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058400" y="51846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세미나룸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0058400" y="545896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운영본부 · 경품/굿즈 보관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VIP 점심(옵션)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371600"/>
            <a:ext cx="5486400" cy="5486400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 · RIDE · SHARE · CONNECT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432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프로그램별 운영 상세 · 신규 미니 이벤트 · 자체 음향 운영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217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ARTEFINE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시승 · 렌탈존 (야외)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024128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확정: 무조건 진행 · 5,000원 / 20분 · 단일 코스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(v2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24128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1371600"/>
            <a:ext cx="6949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운영시간 10:00 ~ 16:00 (마지막 접수 15:30) · 20분 단일 코스, 사전 예약 + 현장 접수 병행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 5,000원/20분 카드 결제 — 유료여야 자차보험 적용(무료 시 미적용) → 반드시 결제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절차: 결제 → 전산 시승동의서 → 운전면허 확인 → 헬멧·글러브 지급 → 안전·코스 안내 → 출발 → 복귀 시 차량 상태 확인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차량: 인천 + 용산 보유 시승차 15대 인천 집결(11/14), 아카데미 교육 차량은 거북이 레이스·슬라럼용으로 분리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재방문 유도: 현장 회원가입 시 다음 방문 1시간 시승권 쿠폰 + 라이더 빙고 '시승' 칸 스탬프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안전: 시승 동선을 방문객·주차 동선과 물리적으로 분리, 출발/도착 스팟 통제 인력 상시. 사고 처리 기준 사전 숙지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인력: 접수 2 · 장비/안내 2 · 출도착 통제 2 · 정비/주유 1 · 인스트럭터 2 — 교육사업부 교관 투입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572000"/>
          <a:ext cx="69494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743200"/>
                <a:gridCol w="914400"/>
                <a:gridCol w="24688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시승용 바이크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인천·용산 집결, 연료 만충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헬멧 / 글러브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사이즈 혼합, 소독 티슈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 · 카드단말기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전산 동의서, 예약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안내 배너 · A보드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/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라바콘 · 안전봉 · 조끼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 / 4 / 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렌탈사업부 주문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680960" y="1371600"/>
            <a:ext cx="4114800" cy="4846320"/>
          </a:xfrm>
          <a:prstGeom prst="roundRect">
            <a:avLst>
              <a:gd name="adj" fmla="val 1778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63840" y="1508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endParaRPr lang="en-US" sz="13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920240"/>
          <a:ext cx="37490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6400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(직책)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총괄·접수·결제·동의서·코스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렌탈사업부 인천점 매니저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 이동·정비·복귀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렌탈사업부 용산점 매니저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인스트럭터·안전 브리핑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교육사업부 수석교관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배너·쿠폰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디자이너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보험 적용 조건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7863840" y="41148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KPI: 시승 150회전 · 현장 회원가입 50명 · 재방문 쿠폰 발급 50매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7863840" y="47548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담당자 실명은 본부장 확정 후 v2.1에 기입. 직책은 현재 조직 기준 가칭.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플리마켓 · 브랜드존 (실내)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024128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차별화: 일반 라이더 셀러 중심 벼룩시장 + 팝니다/구해요 보드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(v2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24128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1371600"/>
            <a:ext cx="6949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취지: 매 행사 똑같은 제휴업체 부스 나열은 '재미없다' — 라이더끼리 노는 벼룩시장·바자회. 바이크 용품이 아니어도 소장품 판매 가능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참가비 무료. 사전 신청제(구글폼/네이버폼) — 셀러 규모 파악 후 자리 번호 배정, 40팀 마감 시 컷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브랜드·협력사: 아카데미 접이식 테이블 1ea 대여. 행거·거치대 등 연출물은 본인 지참. 참여 조건 = 경품 협찬 (등급표 기준)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셀러: 테이블 미제공 — 캠핑 테이블/돗자리 지참, 바닥 규격 구획(1.8m × 1.8m) 테이프 표시 후 자리 배정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 팝니다/구해요 보드: 입구 벽면에 대형 보드 + 포스트잇. 셀러가 아니어도 '구해요/팝니다' 메모 부착 → 라이더 간 무료 매칭. 비용 거의 0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음향: 실내 BGM은 자체 스피커(카페 1 + 스테이지 1)로 상시 재생, 셀러 존은 대화 가능한 볼륨 유지. DJ 없음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617720"/>
          <a:ext cx="69494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  <a:gridCol w="292608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브랜드·협력사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 셀러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공문 + 사전 신청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 신청 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아카데미 접이식 제공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 지참 (규격 안내)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입구 근접·가시 위치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 구획 (바닥 테이프)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 협찬 (1·2·3등 등급표)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판매 품목 사전 기재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철수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17:00 이후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17:00 이후 · 자기 쓰레기 회수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680960" y="1371600"/>
            <a:ext cx="4114800" cy="4846320"/>
          </a:xfrm>
          <a:prstGeom prst="roundRect">
            <a:avLst>
              <a:gd name="adj" fmla="val 1778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63840" y="1508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endParaRPr lang="en-US" sz="13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920240"/>
          <a:ext cx="37490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6400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(직책)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셀러 모집·배정·현장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렌탈사업부 인천점 매니저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브랜드·협력사 공문·확답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/ 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 이동·반입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교육사업부 수석교관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팝니다/구해요 보드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스태프(리셉션)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당일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 폼·번호 POP·SNS 이미지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디자이너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7863840" y="4114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체크: 테이블 보유 수량 실사 → 부족분 대여 여부 결정 (9/26)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7863840" y="46634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KPI: 셀러 40팀(개인 30 + 브랜드 10) · 보드 메모 100건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이벤트존 ① 온포인트 클리닉 + OX 퀴즈 / 거북이 레이스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(v2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2801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온포인트 클리닉 + OX 퀴즈 (실내 스테이지 · 13:00)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1645920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대표가 10분 내외 스킬·안전 포인트 강좌 (레이스 시 주의점 등) → 라이더 질문 Q&amp;A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바닥에 O/X 라인, 문제마다 이동·탈락, 최후 생존 1·2·3등 경품 (협찬 소품)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라이더 상식 문제 혼합(만화·바이크 잡학)으로 재미 확보. 사람이 움직여야 추위·이탈 방지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공지: '13:00 OX 퀴즈, 최소 인원 미달 시 미진행' — 모객 장치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음향: 무선마이크 1 + 실내 메인 스피커. 준비: 질문지·정답지(대표 검수), 바닥 테이프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2801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거북이 레이스 (야외 · 11:00 / 14:00)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1645920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느리게 완주(발 안 짚고)한 사람 순으로 1·2·3등 — 아카데미 서킷데이 방식 그대로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참가자 과다 시 '제한 시간 내 완주' 방식으로 전환 (현장 판단)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코스: 천테이프로 가로·세로 라인, 아카데미 교육 차량(소형) 사용, 교관 심판 2인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시상은 클로징에서 일괄 (협찬 용품 1·2·3등). 참가 접수는 리셉션에서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안전: 헬멧 필수, 코스 주변 라바콘·인원 통제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023360"/>
          <a:ext cx="11430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188720"/>
                <a:gridCol w="1554480"/>
                <a:gridCol w="2103120"/>
                <a:gridCol w="2468880"/>
                <a:gridCol w="23774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(직책)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온포인트 클리닉 + OX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실내 스테이지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13:00 (30')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강사 1(대표) · MC 1 · 진행 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OX 바닥 테이프, 무선마이크, 질문지, 경품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 수석교관 운영 / 대표 강의 / 마케팅 문제판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거북이 레이스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야외 코스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11:00 · 14:00 (각 40')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심판 교관 2 · 접수 1 · 통제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천테이프, 라바콘, 교육 차량 2~3, 헬멧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교육사업부 수석교관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모토메니아 체험 (옵션)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상시 (12:00~16:00)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업체 1 + 보조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윌리머신 · 시뮬레이터 (업체 반입)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컨택 → 무상 협조 시에만 진행 (예산 미반영)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365760" y="594360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모토메니아(부산) 윌리머신·시뮬레이터는 김천 NMF 등 참여 이력 있음 — 비용 발생 시 예산 범위 초과로 제외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이벤트존 ② 꽝 없는 다트 회전판  /  D. 드레스업 콘테스트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(v2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2801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꽝 없는 다트 회전판 (실내 · 12:05 / 14:05 / 15:05)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1645920"/>
            <a:ext cx="5577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원판 제작은 고가 → 회전형 대형 다트판 구매(3만원대)로 대체, '꽝 없음'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지정 운영(매 회 5~10분)으로 줄 서기 방지. 회당 참가 인원 제한(20명)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경품(소형): 카페 아메리카노·디저트 / 인천·용산 시승권 / 아카데미 1회 체험권 / 스티커 / 협찬 소품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경품은 걸지 않음 — 인천 재방문(시승권) 유도가 목적. 빙고 '다트' 칸 스탬프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2801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드레스업 콘테스트 (실내 전시 · 투표 14:30 마감)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1645920"/>
            <a:ext cx="5577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신청 8대 한정, 마감 시 현장 추가 불가 (미달 시에만 당일 접수)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기준: '실제 타는 바이크' 뽐내기 — 멋지게 or 웃기게. 커스텀 전문 전시가 아님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심사: 관객 투표(번호 스티커/투표함) → 1·2·3등, 클로징 시상(협찬 용품 등급표)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반입: 셀프 라이딩 원칙, 탁송은 참가자 부담 (사전 고지). 출품자 전원 참가 기념 스티커팩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840480"/>
          <a:ext cx="11430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108960"/>
                <a:gridCol w="2103120"/>
                <a:gridCol w="246888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사업부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(직책)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지원(디자인만)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구매·주문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다트 회전판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렌탈사업부 (인천 운영)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스태프 A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 구간 스티커 · 안내 POP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다트판 세트 1 (온라인 구매)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드레스업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렌탈사업부 (접수) / 교육사업부 (현장 차량 관리)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매니저 / 교육 교관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번호판 · 투표용지 · 시상 보드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투표함 1, 구획 테이프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 소싱(공통)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(협찬 공문) · 교육 (교육권) · 렌탈 (시승권)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시승권·교육권 쿠폰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 (협찬 등급표 p.19)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 · NEW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미니 이벤트 5종 — 타 모터사이클 행사 벤치마킹, 저비용·고회전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024128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기준: 추가 비용 10만원 이하 · 자체 인력으로 운영 가능 · 방문객 동선 순환과 고객 전환(회원가입·시승)에 기여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(v2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24128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11430000" cy="841248"/>
          </a:xfrm>
          <a:prstGeom prst="roundRect">
            <a:avLst>
              <a:gd name="adj" fmla="val 8696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1554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라이더 빙고 (스탬프 투어)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536192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리셉션에서 3×3 빙고 카드 배부. 시승·셀러 구매·포토존·OX 참가·회원가입·카페·파트너존·다트·거북이 중 3줄 완성 시 럭키드로 추가 번호 1개 + 스티커. 방문객을 전 존으로 순환시키는 장치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15544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 카드 500매 인쇄 3만 + 스탬프 9개 2만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19019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리셉션 스태프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395728"/>
            <a:ext cx="11430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395728"/>
            <a:ext cx="11430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624328"/>
            <a:ext cx="384048" cy="384048"/>
          </a:xfrm>
          <a:prstGeom prst="ellipse">
            <a:avLst/>
          </a:prstGeom>
          <a:solidFill>
            <a:srgbClr val="7A4E9E"/>
          </a:solidFill>
          <a:ln w="12700">
            <a:solidFill>
              <a:srgbClr val="7A4E9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248716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4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사운드 퀴즈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24688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스피커로 배기음 5~8종 재생 → 기종 맞히기 (예: 보노 vs 트라이엄프 vs 할리). 11:30 / 14:40 각 10분, 정답자 협찬 소품. 자체 음향을 콘텐츠로 활용 — 추가 비용 0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9052560" y="24871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 음원 편집만 (내부)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9052560" y="28346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렌탈 인천 스태프(음향)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328416"/>
            <a:ext cx="11430000" cy="841248"/>
          </a:xfrm>
          <a:prstGeom prst="roundRect">
            <a:avLst>
              <a:gd name="adj" fmla="val 8696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557016"/>
            <a:ext cx="384048" cy="38404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3419856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푸시바이크 슬라럼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474720" y="340156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OFF 상태로 소형 교육 차량을 밀어 라바콘 8개 슬라럼 타임어택. 12:30 / 15:00. 무면허·동승자·가족도 참가 가능 → 일반 방문객 참여 폭 확대. 1·2·3등 협찬 소품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9052560" y="341985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 라바콘 기존 활용, 스톱워치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9052560" y="37673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교육 수석교관 · 교관 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4261104"/>
            <a:ext cx="11430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261104"/>
            <a:ext cx="11430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489704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4489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097280" y="4352544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인스타 포토 인증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3474720" y="4334256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포토존 촬영 → #아르테플리마켓 #아르테파인 태그 업로드 인증 시 스티커 + 럭키드로 추가 번호. 15:30 마감. 행사 후 SNS 도달 성과로 집계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9052560" y="435254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 스티커 기존 수량 내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9052560" y="47000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마케팅 디자이너 (기록·SNS)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5193792"/>
            <a:ext cx="11430000" cy="841248"/>
          </a:xfrm>
          <a:prstGeom prst="roundRect">
            <a:avLst>
              <a:gd name="adj" fmla="val 8696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5422392"/>
            <a:ext cx="384048" cy="38404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8640" y="5422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1097280" y="528523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팝니다/구해요 보드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3474720" y="5266944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입구 벽면 대형 폼보드 2장 + 포스트잇. 셀러가 아니어도 '구해요/팝니다/동호회 모집' 메모 → 라이더 간 무료 매칭·커뮤니티 형성. 종료 후 사진 촬영해 SNS 후기 콘텐츠로 활용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9052560" y="52852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 폼보드 2 + 포스트잇 = 1.5만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9052560" y="56327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리셉션 스태프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365760" y="6144768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5종 합계 추가 비용 약 7만원 · 럭키드로 '추가 번호'는 빙고·포토 인증에서만 발급(1인 최대 2개)해 당첨 확률 관리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 · SOUND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 · BGM 자체 운영안 — 외주(음향·무대·DJ) 없이 스피커로 음악 재생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024128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 확정: 음향·무대 외주 0원. 보유 장비 + 무선마이크 1세트 구매(약 15만원)로 전 프로그램 커버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(v2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24128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3749040" cy="146304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1737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실내 메인 (스테이지)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1945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보유 스피커 1 (또는 블루투스 파티 스피커) + 노트북 유선 연결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용도: BGM · MC 멘트 · OX 퀴즈 · 엔진 사운드 퀴즈 · 클로징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06240" y="1508760"/>
            <a:ext cx="3749040" cy="146304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169164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891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983480" y="1737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실내 서브 (카페·플리마켓)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21945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 기존 스피커 시스템 활용, 동일 플레이리스트 저볼륨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용도: 배경 음악, 셀러 존 대화 가능 볼륨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46720" y="1508760"/>
            <a:ext cx="3749040" cy="146304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1691640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823960" y="1737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야외 포터블 (시승·푸드)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21945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충전식 포터블 스피커 1 (보유 or 5만원대 구매) + 스마트폰 블루투스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용도: 야외 BGM, 거북이 레이스·슬라럼 출발 신호·안내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154680"/>
          <a:ext cx="114300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937760"/>
                <a:gridCol w="2194560"/>
                <a:gridCol w="1920240"/>
                <a:gridCol w="8229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방식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 / 준비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(직책)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BGM 플레이리스트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시간대별 3개 리스트(오픈 업템포 / 낮 라운지 / 클로징 하이라이트) 각 2시간, 스트리밍 아닌 로컬 파일로 저장해 통신 끊김 방지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 1 + 예비 스마트폰 1, 3.5mm/USB 케이블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스태프(음향)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마이크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무선 핸드마이크 2ch 세트 1 (수신기 → 스피커 AUX). MC 1 + 진행 1. 예비 유선 마이크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무선마이크 세트 구매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매니저 (주문)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사운드 퀴즈 음원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배기음 5~8종 각 15초 편집, 정답 슬라이드 없이 MC 구두 진행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음원 파일 (내부 촬영·편집)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스태프 · 교관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전원·안전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릴선 2 + 멀티탭, 통행 구간 케이블 커버(테이프), 스피커 전원 회로 분리, 우천 시 야외 스피커 텐트 내 이동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릴선·케이블 커버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스태프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음악 사용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 내 상업 공간 BGM 범위 확인(저작권 단체 매장 음악 서비스 가입 여부). 외부 반출·녹화 금지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 약관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리허설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11/14 16:00 사운드 체크: 볼륨 레벨 3포인트 표시(테이프 마킹), 마이크 하울링 위치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체크리스트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음향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Text 21"/>
          <p:cNvSpPr txBox="1"/>
          <p:nvPr/>
        </p:nvSpPr>
        <p:spPr>
          <a:xfrm>
            <a:off x="365760" y="612648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무대: 별도 단상·트러스 없음. 포토존 현수막 앞 바닥 스테이지 + 라바콘·테이프로 관객 라인 표시 → 클로징·시상은 이 위치에서 진행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클로징 세리머니 (16:00 ~ 17:00) — 내부 MC 진행 · 시나리오 기반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(v2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35608"/>
            <a:ext cx="329184" cy="329184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764792"/>
            <a:ext cx="0" cy="27432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139903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16:00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139903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오프닝 멘트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3990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 집객 · 포토존 현수막 앞 바닥 스테이지 · BGM 하이라이트 리스트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039112"/>
            <a:ext cx="329184" cy="329184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2368296"/>
            <a:ext cx="0" cy="27432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200253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16:05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200253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시상 ①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200253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거북이 레이스 1·2·3등 → 푸시바이크 슬라럼 1·2·3등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642616"/>
            <a:ext cx="329184" cy="329184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" y="2971800"/>
            <a:ext cx="0" cy="27432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" y="26060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16:15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828800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시상 ②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2606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드레스업 1·2·3등 (관객 투표) → 라이더 빙고 완성자 추첨 3명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246120"/>
            <a:ext cx="329184" cy="329184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" y="3575304"/>
            <a:ext cx="0" cy="27432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0120" y="320954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16:25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828800" y="320954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라이더 소장품 자선경매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320954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유명인 교육생 소장품(대표 컨택) — 사인회 없음. 수익금 전액 기부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849624"/>
            <a:ext cx="329184" cy="329184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" y="4178808"/>
            <a:ext cx="0" cy="27432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0120" y="381304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16:45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828800" y="38130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협찬사 소개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3931920" y="38130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참여·경품 협찬 브랜드 호명, 로고 노출 (후원 조건) · 브랜드 대표 한마디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4453128"/>
            <a:ext cx="329184" cy="329184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" y="4782312"/>
            <a:ext cx="0" cy="27432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60120" y="441655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16:50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828800" y="44165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럭키드로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3931920" y="44165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 추첨: 2등(협찬 용품) 다수 → 1등 → 대상(협찬 메인 1) 순. 빙고·포토 인증 추가 번호 포함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5056632"/>
            <a:ext cx="329184" cy="329184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60120" y="502005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17:00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1828800" y="502005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멘트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3931920" y="502005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회차 예고 · 회원가입/시승 쿠폰 안내 · VIP 굿즈 전달 · BGM 종료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863840" y="1325880"/>
            <a:ext cx="3931920" cy="4892040"/>
          </a:xfrm>
          <a:prstGeom prst="roundRect">
            <a:avLst>
              <a:gd name="adj" fmla="val 186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04672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 · 시나리오 · 담당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8046720" y="1828800"/>
            <a:ext cx="3566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톤: 매끄러움보다 위트·재미 우선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MC: 내부 진행자 확정(본부장 지명, 직원 중 1인). 외부 MC는 예비비 내 옵션(30만원 상한)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시나리오·큐시트: OX 질문지, 시상 순서, 경매 품목, 럭키드로 번호 운영 — 본부장 총괄, 마케팅은 큐카드 디자인만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럭키드로 번호: 리셉션에서 사전 신청 확인 시 배부(번호표) + 빙고·포토 인증 추가 번호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무대: 시상 보드·백판 제작 대신 포토존 현수막 활용, 상장 인쇄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음향: 무선마이크 2 + 실내 메인 스피커, BGM 큐는 노트북 담당 1인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시나리오 본부장(10/31 초안) · 경품 인수·순서 렌탈 인천 매니저 · 큐카드 마케팅 디자이너(11/7)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E. 파트너·가맹점존  /  VIP 응대  /  포토존·깃발·굿즈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(v2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3749040" cy="3291840"/>
          </a:xfrm>
          <a:prstGeom prst="roundRect">
            <a:avLst>
              <a:gd name="adj" fmla="val 2222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E. 파트너 · 가맹점존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874520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대상: 가맹점, 협력사, 메이커/파트너, 협업기관(TS 등)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위치: 중앙 입구 좌·우 가시 위치 (VIP 동선상)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제공: 테이블 1ea, 자체 연출물은 본인 지참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공문: 참여 의사 + 경품 지원 요청, 불참 시에도 경품 협조 요청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홍보물 하단 협력·후원 로고 노출 = 무료 협찬 조건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명단: 대표·본부장 취합 → 리셉션 명단 표기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06240" y="1325880"/>
            <a:ext cx="3749040" cy="3291840"/>
          </a:xfrm>
          <a:prstGeom prst="roundRect">
            <a:avLst>
              <a:gd name="adj" fmla="val 2222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8912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VIP 응대 (협찬사 대표 · 파트너 · 기관)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874520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식사: 일반 푸드·카페 동일 이용(식권 1만원권 제공). 소수일 경우 세미나룸 점심 세팅 옵션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귀가 시 굿즈 세트 증정(스티커·양말·쿠키) — 빈손 귀가 방지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응대: 본부장·대표가 직접, 파트너존 안내 동선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협찬사 대표는 클로징 '협찬사 소개' 순서에서 호명·한마디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후 사진·결과 공유 메일(11/20) — 2회차 협찬 연결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46720" y="1325880"/>
            <a:ext cx="3749040" cy="3291840"/>
          </a:xfrm>
          <a:prstGeom prst="roundRect">
            <a:avLst>
              <a:gd name="adj" fmla="val 2222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포토존 · 2F 깃발 · 굿즈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1874520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포토존: 현수막 1 + 기존 BMW 판 커버 — '플리마켓' 문구 없이 재사용 가능한 아르테파인 KV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클로징 무대 배경 겸용 · 인스타 포토 인증 스팟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2층 난간: 협찬사·동호회 깃발(종이 가능, 1회용)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굿즈: 스티커(저가 방수) 300 · VIP 세트 20 · 양말은 샘플 확인 후, 모자는 예산상 제외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전부 마케팅 / 발주·설치는 렌탈사업부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800600"/>
          <a:ext cx="11430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566160"/>
                <a:gridCol w="329184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사업부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(직책)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파트너·협찬사 공문 발송·확답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/ 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9/19 발송 · 10/10 확답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VIP 명단·식권·굿즈 세트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본부장(명단) · F&amp;B(식권) · 렌탈(세트 포장)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F&amp;B 이사 · 렌탈 인천 스태프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포토존·깃발 제작물 발주·설치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마케팅(디자인) → 렌탈사업부(발주·설치)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디자이너 → 렌탈 인천 매니저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 발주 · 11/14 설치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F&amp;B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푸드 · 카페 · 위생 — 부족하거나 부실하면 안 된다, 양이 적더라도 꼼꼼하게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(v2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v2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11430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188720"/>
                <a:gridCol w="5120640"/>
                <a:gridCol w="301752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(직책)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섭외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아파트 장터 등 묶음 운영팀에 참여 타진 — 비용 지급 없이 저렴한 가격으로 입점. '저렴해 보이는' 이미지 리스크 검토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 이사 · 본부장 · 렌탈 인천 매니저 — 각자 알아보고 취합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공모·인터뷰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불발 시 푸드트럭 플랫폼·카페에 모집 공고 → 지원서 받아 메뉴·위생·가격 필터링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 이사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최소 구성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밥류 1 (컵밥 등 서서 먹을 수 있는 것) + 간식 1~2 (핫도그·닭강정·어묵 등). 메뉴 중복 금지. 음료는 부르지 않음(카페)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 이사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커피·음료는 매장 카페에서 판매. 당일 10% 할인(안) — 이사 협의. 좌석은 휴게존. 빙고 '카페' 칸 스탬프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 이사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스태프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도시락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스태프 25명 × 1만원 도시락 + 생수 (예산 반영 30만원). 12:00~13:30 교대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 이사 · 렌탈 인천 스태프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11/10 주문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식권(1만원권) 20매 제공, 세미나룸 점심 세팅 옵션. 귀가 시 쿠키 등 굿즈 세트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 이사 · 렌탈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4846320"/>
            <a:ext cx="11430000" cy="1371600"/>
          </a:xfrm>
          <a:prstGeom prst="roundRect">
            <a:avLst>
              <a:gd name="adj" fmla="val 5333"/>
            </a:avLst>
          </a:prstGeom>
          <a:solidFill>
            <a:srgbClr val="E3F1E4"/>
          </a:solidFill>
          <a:ln w="12700">
            <a:solidFill>
              <a:srgbClr val="E3F1E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4937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위생 · 인허가 체크 (확인만, 서류 보관) — 카페 운영 경험이 있는 F&amp;B 이사에게 일임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303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입점 업체별: 사업자등록증 · 영업신고증(식품접객/즉석판매 등) · 종사자 보건증 · 배상책임보험(권장) 사본 취합 → 세미나룸 보관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관할 구청 신고 필요 여부 확인: 사유지 내 1일 행사라도 외부 음식 판매 포함 → 위생과 사전 문의 (10/17)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현장: 손 세정·쓰레기 분리수거·소화기 위치, 조리 부스는 시승 동선·주차 동선과 분리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GIVEAWAY &amp; PRIZE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경품 구조 — 브랜드 협찬 물품으로 대상·1등·2등 구성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024128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원칙: 필요 수량을 먼저 리스트업 → 협찬 공문 → 확답 기준으로 등급 배정 → 부족분만 자체 구매(예산 20만원 상한)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(v2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24128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v2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75895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2651760"/>
                <a:gridCol w="548640"/>
                <a:gridCol w="1097280"/>
                <a:gridCol w="8229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 (협찬 요청 품목 예시)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(직책)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럭키드로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헬멧(풀페이스·오픈페이스) 1 또는 라이딩 자켓 — 협찬 메인 1개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헬멧·용품 브랜드 협찬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블루투스 인터컴 / 라이딩 글러브 프리미엄 / 부츠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용품 브랜드 협찬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체인 클리너 세트 · 넥워머 · 스마트폰 마운트 · 브랜드 굿즈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10~15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브랜드 부스 참여 조건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렌탈 인천 매니저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거북이 레이스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1·2·3등 × 2회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1등 글러브 / 2등 넥워머·소품 / 3등 스티커팩+시승권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+ 자체 시승권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 수석교관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푸시바이크 슬라럼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1·2·3등 × 2회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1등 소품 용품 / 2등 카페 쿠폰 / 3등 스티커팩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소품 + 자체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 수석교관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드레스업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1·2·3등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1등 자켓급 용품 / 2등 인터컴급 / 3등 소품 (머플러류는 호불호 → 제외)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매니저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OX 퀴즈 · 사운드 퀴즈 · 다트 · 빙고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쿠폰 · 인천/용산 시승권 · 아카데미 1회 체험권 · 스티커 · 협찬 소품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60+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발행 (원가 낮음)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교육 · F&amp;B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VIP 굿즈 세트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스티커 + 양말 + 쿠키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제작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마케팅(디자인) · 렌탈(포장)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방문객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스티커 (저가 방수)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제작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마케팅(디자인) · 렌탈(발주)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183880" y="137160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36676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 공문 프로세스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366760" y="1920240"/>
            <a:ext cx="384048" cy="384048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869680" y="19202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구성·일정 확정 (본 기획안 승인, 9/15)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366760" y="2377440"/>
            <a:ext cx="384048" cy="384048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6676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869680" y="23774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경품 필요 수량표 작성 — 위 표 기준 총 30점 + 소형 60점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366760" y="2834640"/>
            <a:ext cx="384048" cy="384048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6676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869680" y="28346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대표·본부장 명의 공문 발송 (참여 의사 + 경품, 9/19)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366760" y="3291840"/>
            <a:ext cx="384048" cy="384048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66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869680" y="32918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확답 회신 취합 → 등급 배정 (10/10)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366760" y="3749040"/>
            <a:ext cx="384048" cy="384048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36676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869680" y="37490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부족분 자체 구매 판단 — 상한 20만원 (10/13)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8366760" y="4206240"/>
            <a:ext cx="384048" cy="384048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36676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8869680" y="42062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 조건 이행: 로고 노출·클로징 호명·행사 후 사진 공유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8366760" y="4754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 요청 후보군 (예시)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8366760" y="50292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헬멧·용품 브랜드 / 인터컴 브랜드 / 케미컬·정비 브랜드 / 라이딩 웨어 / 타이어·부품 딜러 / 협업기관(TS·우체국) 판촉물 — 리스트는 대표·본부장 취합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371600"/>
            <a:ext cx="5486400" cy="5486400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 · RIDE · SHARE · CONNECT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432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업무분장 · 담당자 · 인력 · 제작물 · 예산 · 안전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217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ARTEFINE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R&amp;R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업무분장 원칙 &amp; 담당자 (직책 기준)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024128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디자인·제작물은 마케팅, 섭외·주문·서류는 사업부별 담당자 지정 — 실명은 본부장 확정 후 기입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(v2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24128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2212848" cy="3246120"/>
          </a:xfrm>
          <a:prstGeom prst="roundRect">
            <a:avLst>
              <a:gd name="adj" fmla="val 3306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371600"/>
            <a:ext cx="2212848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1417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렌탈사업부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17556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아르테파인 인천·용산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2148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23774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인천점 매니저 (PM 보조)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용산점 매니저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인천 스태프 A (음향·다트)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인천 스태프 B (리셉션·보드)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246120"/>
            <a:ext cx="1965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시승존 운영 · 차량 이동/정비 · 셀러 모집·배정 · 드레스업 접수 · 시설물·무선마이크 주문·설치 · 도식도 · 굿즈 발주·포장 · 음향 자체 운영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70048" y="1371600"/>
            <a:ext cx="2212848" cy="3246120"/>
          </a:xfrm>
          <a:prstGeom prst="roundRect">
            <a:avLst>
              <a:gd name="adj" fmla="val 3306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70048" y="1371600"/>
            <a:ext cx="2212848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807208" y="1417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교육사업부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807208" y="17556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레인조아카데미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807208" y="2148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2807208" y="23774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수석교관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교관 2인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2807208" y="3246120"/>
            <a:ext cx="1965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거북이 레이스 · 푸시바이크 슬라럼 · OX 퀴즈 운영 · 시승 인스트럭터·안전 브리핑 · 테이블·교육차량 반입 · 교육권 경품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974336" y="1371600"/>
            <a:ext cx="2212848" cy="3246120"/>
          </a:xfrm>
          <a:prstGeom prst="roundRect">
            <a:avLst>
              <a:gd name="adj" fmla="val 3306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74336" y="1371600"/>
            <a:ext cx="2212848" cy="685800"/>
          </a:xfrm>
          <a:prstGeom prst="rect">
            <a:avLst/>
          </a:prstGeom>
          <a:solidFill>
            <a:srgbClr val="7A4E9E"/>
          </a:solidFill>
          <a:ln w="12700">
            <a:solidFill>
              <a:srgbClr val="7A4E9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11496" y="1417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F&amp;B · 카페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111496" y="17556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이사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111496" y="2148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A4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111496" y="23774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F&amp;B 이사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 매니저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111496" y="3246120"/>
            <a:ext cx="1965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푸드 1·2차 섭외 · 메뉴 확정 · 위생·인허가 서류 · 카페 당일 할인 · VIP 식권·스태프 도시락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278624" y="1371600"/>
            <a:ext cx="2212848" cy="3246120"/>
          </a:xfrm>
          <a:prstGeom prst="roundRect">
            <a:avLst>
              <a:gd name="adj" fmla="val 3306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78624" y="1371600"/>
            <a:ext cx="2212848" cy="685800"/>
          </a:xfrm>
          <a:prstGeom prst="rect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15784" y="1417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415784" y="17556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경영지원실 (디자인만)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7415784" y="2148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7415784" y="23774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디자이너 2인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7415784" y="3246120"/>
            <a:ext cx="1965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행사명·KV · 배너/포토존/깃발/POP/상장/쿠폰/빙고 카드 디자인 · 신청 폼 · SNS·CRM 홍보물 · 포토 인증 운영 · 성과 집계. 섭외·주문·컨펌 제외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582912" y="1371600"/>
            <a:ext cx="2212848" cy="3246120"/>
          </a:xfrm>
          <a:prstGeom prst="roundRect">
            <a:avLst>
              <a:gd name="adj" fmla="val 3306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82912" y="1371600"/>
            <a:ext cx="221284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720072" y="1417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· 본부장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9720072" y="17556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EEE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총괄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9720072" y="2148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9720072" y="23774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본부장 (PM)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9720072" y="3246120"/>
            <a:ext cx="1965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총괄(PM) · 협찬사/파트너 공문 · 경품 등급 배정 · 유명인 컨택 · 내부 MC 지명 · 시나리오 · 예산 승인 · 담당자 실명 확정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4800600"/>
            <a:ext cx="11430000" cy="1417320"/>
          </a:xfrm>
          <a:prstGeom prst="roundRect">
            <a:avLst>
              <a:gd name="adj" fmla="val 5161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48640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규칙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5193792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항목별 담당자(직책)를 본 기획안에 지정 → 본부장이 실명 확정·지시 (9/15). 마케팅이 타 부서 업무의 컨펌 창구가 되지 않도록 한다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발생 건은 항목별 예산 배분표(p.27) 범위 내에서 견적서 → 결재 상신 → 승인 후 진행. 항목을 묶어 일정·비용을 한 번에 리스트업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인력은 직원 + 교관 + 크루 전원 투입, 파트별 전담반 사전 지정. 안전 최우선. 외주 인력·장비 없이 자체 운영이 원칙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R&amp;R DETAIL 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업무분장 상세 ① — 렌탈사업부 · 교육사업부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(v2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v2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554480"/>
                <a:gridCol w="4572000"/>
                <a:gridCol w="1371600"/>
                <a:gridCol w="1280160"/>
                <a:gridCol w="1097280"/>
                <a:gridCol w="11430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항목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세부 내용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사업부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(직책)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지원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시승존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요금·결제·전산 동의서·면허 확인 절차, 단일 코스 설정·답사, 접수대 구성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렌탈(인천)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인천점 매니저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배너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 이동·정비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용산→인천 15대 이동(11/14), 연료·정비·상태 사진, 11/16 복귀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렌탈(용산·인천)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용산점 매니저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셀러 모집·배정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 폼 운영, 개인/브랜드 구분, 자리 번호 배정, 규격 안내문, 당일 입퇴장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렌탈(인천)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인천점 매니저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 마감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폼·번호 POP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드레스업 접수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8대 신청 접수·마감, 탁송 자부담 고지, 투표함 운영·집계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렌탈(인천)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스태프 B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 마감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번호판·투표용지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시설물 주문·설치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 실사→부족분 대여, 텐트·라바콘·조끼·테이프·다트판·투표함·무선마이크 구매, 제작물 설치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렌탈(인천)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인천점 매니저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 주문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제작물 데이터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도식도 재작성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실내/야외 분리 배치도, 셀러 자리 번호도, 스피커 3포인트, 동선·안전 통제 지점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렌탈(인천) + 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인천점 매니저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도면 정리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굿즈 발주·포장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스티커·양말 발주, VIP 세트 포장, 다트·빙고 경품 준비, 협찬품 인수·라벨링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렌탈(인천)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스태프 B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굿즈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음향 자체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스피커 3포인트 세팅, BGM 플레이리스트 3종, 엔진 사운드 음원, 마이크·전원, 리허설·당일 오퍼레이팅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렌탈(인천)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스태프 A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 음원 · 11/14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거북이 레이스·슬라럼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설계·천테이프 시공, 라바콘 슬라럼 룰·스톱워치, 심판, 참가 접수, 결과 집계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교육(아카데미)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수석교관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11/14 시공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룰 안내 POP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OX 퀴즈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 출제(대표 검수)·진행 보조, 바닥 라인, 탈락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교육(아카데미)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교관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 문제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문제판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인스트럭터·안전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교관 2인 배치, 출발 전 안전 브리핑, 사고 대응 절차·보험 처리 기준 문서화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교육(아카데미)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수석교관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안전 안내 POP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아카데미 물자·교육권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접이식 테이블·의자 전량, 교육용 차량 2~3대, 헬멧·글러브 반입 / 1회 체험 교육권 발행 조건·수량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교육(아카데미)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교관 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10/17 · 11/14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쿠폰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R&amp;R DETAIL ②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업무분장 상세 ② — F&amp;B/카페 · 마케팅(디자인) · 대표/본부장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(v2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v2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645920"/>
                <a:gridCol w="4937760"/>
                <a:gridCol w="1737360"/>
                <a:gridCol w="1463040"/>
                <a:gridCol w="1234440"/>
              </a:tblGrid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항목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세부 내용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사업부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(직책)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1차 섭외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장터 운영팀 등 묶음 입점 타진, 조건(무비용·저가 판매) 협의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F&amp;B/카페 + 본부장·렌탈 공동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 이사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2차 공모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불발 시 플랫폼·카페 공고, 지원서 필터링·인터뷰, 메뉴 확정(컵밥 1 + 간식 1~2)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F&amp;B/카페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 이사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위생·인허가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사업자등록·영업신고·보건증 취합, 구청 위생과 사전 문의, 현장 위생 점검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F&amp;B/카페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매니저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운영·식사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당일 할인율 확정, VIP 식권 20매, 스태프 도시락 25개·생수 주문, 세미나룸 점심 옵션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F&amp;B/카페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 이사 · 카페 매니저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 · 11/10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행사명·KV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'아르테 플리마켓' 등 후보 중 확정, 키비주얼·컬러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디자이너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제작물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 현수막·배너·A보드·POP·깃발·상장·번호판·투표용지·쿠폰·큐카드·빙고 카드 (규격은 렌탈 제공)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디자이너 1·2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 시안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 폼·홍보물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셀러/드레스업/시승 예약 폼, SNS 카드뉴스, CRM 문자 문안, 동호회 배포 이미지, 포토 인증 해시태그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디자이너 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 폼 · 11월 집중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성과 집계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방문·시승·회원가입·매출·SNS 도달·빙고 완성률 결과보고 (11/20)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디자이너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협찬·파트너 공문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참여 의사 + 경품 지원 공문 발송·확답 취합, 후원 로고 수집, 경품 등급 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9/19 발송 · 10/10 확답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컨택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유명인 소장품 협조(사인회 제외), 모토메니아 무상 협조 여부, 협업기관(TS·우체국) 판촉물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(본부장 보조)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MC·시나리오·인력 배치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MC 지명, 클로징 큐시트, OX 질문지 검수, 파트별 전담반 배치표, 안전 브리핑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대표(클리닉 강의)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 초안 · 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예산·결재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항목별 배분표(335만원) 결재 → 견적 취합 → 항목별 집행 승인, 예비비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→ 대표 승인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보험·저작권·개인정보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자차보험 유료 시승 조건 확인, 행사 배상책임보험 검토, 매장 음악 사용 범위, 신청 폼 개인정보 문구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MANPOWER — D-DAY 인력 배치 (안)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024128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 + 교관 + 크루 전원 투입 · 외주 인력 없음 · 총 23명 내외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(v2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24128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v2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48640"/>
                <a:gridCol w="4754880"/>
                <a:gridCol w="1645920"/>
                <a:gridCol w="26517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Division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Task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소속 (안)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Detail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Director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총괄 · VIP 응대 · 돌발 의사결정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대표는 온포인트 클리닉 강의·VIP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운영본부 (세미나룸)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경품·굿즈 관리, 무전 허브, 서류 보관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렌탈(인천)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협찬품 등급별 라벨링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리셉션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사전신청 확인, 럭키드로 번호·빙고 카드 배부, 팝니다/구해요 보드, 참가 접수(거북이·슬라럼·OX)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크루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피크 2인 / 그 외 1인 교대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시승 접수·결제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결제, 전산 동의서, 면허 확인, 예약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렌탈(인천·용산)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 2, 단말기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장비·안내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헬멧·글러브 지급, 안전사항·코스 안내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크루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출도착 통제·정비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출발/도착 스팟 통제, 주유·점검, 상태 사진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교육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조끼·안전봉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Instructor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브리핑, 거북이 레이스·슬라럼 심판, OX 진행 보조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교육(교관)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레이스 시간대 이동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플리마켓·드레스업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셀러 안내·자리 관리, 투표함, 드레스업 차량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크루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이벤트·무대·음향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MC 1, 음향/BGM 오퍼레이터 1(노트북·마이크), 진행 보조 1 (다트·OX·사운드 퀴즈·시상·럭키드로)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직원 + 교육·크루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음향 외주 없음 → 오퍼레이터 내부 1인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 · 카페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2+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운영, 푸드 부스 조율, VIP 식권, 스태프 도시락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F&amp;B/카페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업체 인원 별도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안전·주차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 유도, 시승 동선 차단, 응급 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 · 크루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구급함·소화기 위치 숙지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기록·SNS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사진·영상, 실시간 SNS, 포토 인증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제작물 검수 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365760" y="603504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총 23명 내외 (전원 내부 인력). 교관·크루 참석 인원 확정 후 파트별 실명 배치표로 전환 (11/7). 스태프 식사는 12:00~13:30 교대, 도시락 25개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제작물 리스트 — 디자인: 마케팅 / 규격 확정·발주·설치: 렌탈사업부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024128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제작물 예산 70만원 내 — 재사용 가능한 KV 우선, 1회용은 종이·저가 소재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(v2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24128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v2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300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206240"/>
                <a:gridCol w="1188720"/>
                <a:gridCol w="1463040"/>
                <a:gridCol w="822960"/>
                <a:gridCol w="26517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Division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Description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Qty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Size (안)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예상 비용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Remark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현수막 (아르테파인 KV, '플리마켓' 문구 제외 → 재사용)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판 규격 실측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BMW 판 커버 방식, 타카 고정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입구·야외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플리마켓 행사 배너 (X배너)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600 × 1,800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행사명·일시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입구·야외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A보드 출력물 (주차·시승 동선·화장실 안내)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900 × 1,800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A보드 프레임 활용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시승존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안내 배너 + 요금·절차 POP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/ 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600 × 1,800 / A3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QR 예약 링크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플리마켓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셀러 자리 번호 POP · 규격 안내문 · 팝니다/구해요 보드(폼보드)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 / 1 / 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A5 / A4 / A1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바닥 테이프 병행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 드레스업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출품 번호판 · 투표용지 · 투표함 표지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 / 300 /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A4 / 명함 / A4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이벤트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OX 문제판 · 다트 경품 구간 스티커 · 라이더 빙고 카드 · 슬라럼 룰 POP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 / 1set / 500 /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A3 / — / A6 / A3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빙고 스탬프 9개 별도 2만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클로징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상장 · MC 큐카드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 / 1set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A4 / A5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시상 보드 대신 포토존 현수막 활용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2F 난간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협찬사·동호회 깃발 (종이)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 × 900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1회용, 로고 수집 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쿠폰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시승권 · 교육권 · 카페 쿠폰 · 재방문 쿠폰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50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유효기간·조건 명기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굿즈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스티커(갈매기 등) · VIP 세트 패키지 · 양말(샘플 확인 후)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 / 20 / 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스티커 6만 + VIP 세트 20만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온라인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셀러/드레스업/시승 신청 폼 · SNS 카드뉴스 · CRM 문자 문안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 폼 오픈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365760" y="6144768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제작물 소계 약 44만원 + 굿즈 26만원 = 70만원 (협찬사 배너·판촉물은 협찬사 제공분으로 대체)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FACILITY &amp; ORDER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시설물 · 구매 · 대여 리스트 — 주문 주체는 사업부, 마케팅 제외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(v2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v2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291840"/>
                <a:gridCol w="1188720"/>
                <a:gridCol w="1737360"/>
                <a:gridCol w="2011680"/>
                <a:gridCol w="82296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수량 (안)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(직책)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예상 비용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접이식 테이블 (브랜드·협력사·운영용)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실사 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아카데미 보유 전량 + 부족분 대여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수석교관 → 인천점 매니저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 셀러 미제공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접이식 의자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아카데미 보유 + 대여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수석교관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텐트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캐노피 텐트 (시승 접수·푸드·리셉션)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인천점 매니저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우천·바람 대비 웨이트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라바콘 20 · 안전봉 4 · 스태프 조끼 6 · 구급함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인천점 매니저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슬라럼 라바콘 겸용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구획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바닥 구획 테이프 · 천테이프(거북이 코스) · 케이블 타이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5롤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스태프 B · 교관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회전형 대형 다트판 세트 · 투표함 · 번호표 300 · 스톱워치 · 빙고 스탬프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/ 1 / 300 / 1 / 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온라인 구매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스태프 A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원판 제작 대체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무선 핸드마이크 2ch 세트 · 릴선 2 · 케이블 커버 테이프 · 예비 케이블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 (외주 없음)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스태프 A (실사) → 인천점 매니저 (주문)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스피커는 매장·카페 보유분 + 포터블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헬멧 20 · 글러브 20 · 소독 티슈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+ 보충 구매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인천점 매니저 · 교관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 2 · 카드단말기 2 · 무전기 6 · 멀티탭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+ 대여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인천점 매니저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전산 동의서 테스트 사전 완료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쓰레기통·분리수거 · 손세정 · 소화기 위치 표시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매니저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위생 점검 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15대 · 교육용 2~3대 이동 (탁송 or 라이딩), 시승 연료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용산점 매니저 · 교관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11/14 이동, 11/16 복귀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365760" y="603504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시설물·장비 소계 약 73만원 (텐트·테이블 대여 25만 + 안전·구획·이벤트·음향·장비·운영·푸드 48만) + 차량·운송 30만원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BUDGET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배분 — 총 300 ~ 400만원 (기본안 335만원 / 상한 400만원)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024128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음향·무대·DJ·외부 MC 외주 0원 · 경품은 협찬 중심(부족분 20만원 상한) · 결재 10/10 목표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(v2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24128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v2</a:t>
            </a:r>
            <a:endParaRPr lang="en-US" sz="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971800"/>
                <a:gridCol w="640080"/>
                <a:gridCol w="640080"/>
                <a:gridCol w="1280160"/>
                <a:gridCol w="91440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산정 근거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제작물·굿즈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현수막·배너·A보드·POP·깃발·상장·쿠폰·빙고 카드 44만 + 스티커·VIP 세트 26만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MATERIAL p.25 기준 견적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렌탈(발주) · 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시설물·장비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텐트·테이블 대여 25만 / 안전·구획·이벤트·장비·운영·푸드 비품 31만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56만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FACILITY p.26 기준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교육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음향 (자체)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무선마이크 세트 15만 + 릴선·케이블 커버 2만 (스피커는 보유분, 외주 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상한은 포터블 스피커 추가 구매 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 보완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부족분 자체 구매 + 시승권·교육권·카페 쿠폰 원가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확답 후 부족분만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렌탈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스태프 도시락 25개 25만 + 생수·간식 5만 + VIP 식권 20매 20만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인원 × 단가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 이사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차량·운송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용산↔인천 15대 이동 연료·탁송, 시승 연료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대수 × 거리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용산·인천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CRM 문자 3,000건 × 35원 ≈ 11만 + SNS 광고 15만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발송 건수 × 단가 (기존 실측)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미니 이벤트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빙고 카드·스탬프·폼보드·포스트잇 (사운드 퀴즈·슬라럼·포토 인증 0원)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NEW p.14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교육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예비비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우천 대비·긴급 구매·외부 MC 옵션(30만 상한)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59만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기본안 대비 약 20%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335만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400만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예비비 미집행 시 실집행 276만원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→ 대표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0" descr=""/>
          <p:cNvGraphicFramePr/>
          <p:nvPr/>
        </p:nvGraphicFramePr>
        <p:xfrm>
          <a:off x="8229600" y="1280160"/>
          <a:ext cx="35661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6"/>
          <p:cNvSpPr/>
          <p:nvPr/>
        </p:nvSpPr>
        <p:spPr>
          <a:xfrm>
            <a:off x="8229600" y="466344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412480" y="4754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수입(안)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8412480" y="502920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5,000원 × 150회전 = 75만원 · 카페 매출 · 소장품 경매 수익(전액 기부) · 셀러 참가비 없음 → 행사는 매출이 아닌 인지도·고객 전환(회원가입 50·재방문 쿠폰 50) 성과로 평가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SAFETY &amp; RISK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안전이 최우선 — 행사 전 체크리스트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(v2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3749040" cy="4892040"/>
          </a:xfrm>
          <a:prstGeom prst="roundRect">
            <a:avLst>
              <a:gd name="adj" fmla="val 1951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· 차량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874520"/>
            <a:ext cx="3383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시승만 운영 (자차보험 적용 조건), 무료 시승 금지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면허 확인 · 전산 동의서 100% · 헬멧/글러브 착용 확인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 시 처리 기준(자기부담금·보험) 사전 문서화, 스태프 숙지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동선 ↔ 방문객·주차 동선 물리적 분리, 출도착 통제 상시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상태 사진: 출고 전 / 복귀 후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푸시바이크 슬라럼은 엔진 OFF·키 회수 상태로만 운영, 교관 2인 감독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760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렌탈 인천 매니저 · 수석교관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06240" y="1325880"/>
            <a:ext cx="3749040" cy="4892040"/>
          </a:xfrm>
          <a:prstGeom prst="roundRect">
            <a:avLst>
              <a:gd name="adj" fmla="val 1951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행사장 · 방문객 · 음향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1874520"/>
            <a:ext cx="3383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실내 수용 인원 고려 (푸드는 야외로 분산)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구급함 · 소화기 위치 표시, 응급 연락 체계(가까운 병원)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우천·강풍 대비: 텐트 웨이트, 야외 이벤트 실내 전환 시나리오, 야외 스피커 텐트 내 이동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전기: 릴선·멀티탭 통행 구간 커버, 스피커 전원 회로 분리, 하울링 위치 사전 확인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BGM 볼륨: 실내 셀러 존 대화 가능 수준, 야외는 인근 민원 대비 정오 이후 볼륨 상한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분실물·미아 안내 = 리셉션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5760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인천 스태프 A(음향) · 본부장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046720" y="1325880"/>
            <a:ext cx="3749040" cy="4892040"/>
          </a:xfrm>
          <a:prstGeom prst="roundRect">
            <a:avLst>
              <a:gd name="adj" fmla="val 1951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인허가 · 서류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1874520"/>
            <a:ext cx="3383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 판매 업체: 사업자등록 · 영업신고 · 보건증 확인 (사본 보관)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관할 구청 위생과 사전 문의 (외부 음식 판매 포함 1일 행사)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음악 사용: 매장 상업 공간 BGM 사용 범위 확인 (외주 DJ 없으므로 자체 책임)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개인정보: 신청 폼 수집 항목 최소화·동의 문구, 럭키드로 후 파기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배상책임보험 가입 여부 검토 (1일 단기)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협찬품 인수증·경품 지급 대장 (세무 증빙)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5760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경영지원실 담당 · F&amp;B 이사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 ISSUES &amp; NEXT STEP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035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승인 전 확인 필요 사항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(v2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v2</a:t>
            </a:r>
            <a:endParaRPr lang="en-US" sz="9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77724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657600"/>
                <a:gridCol w="1417320"/>
                <a:gridCol w="118872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미결 사항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결정 주체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 시점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행사명 최종 확정 (아르테 플리마켓 / 아르테파인 플리마켓)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KV·폼·배너 착수 선행 조건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항목별 담당자 실명 지정 (직책 25건 → 실명)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 기획안 승인과 동시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 기본안 335만원 / 상한 400만원 승인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9/15 (배분) · 10/10 (확정)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확답 후 경품 보완액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스피커 사양·수량 실사 (매장·카페·포터블) → 추가 구매 여부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스태프 A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부족 시 포터블 5만원대 1대 추가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MC 지명 (직원 중 1인) · 외부 MC 옵션 사용 여부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시나리오 착수 조건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요청 브랜드 리스트 확정 · 대상/1등 경품 확보 여부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9/19 발송 · 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미확보 시 자체 구매 20만 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존 배치 도식도 재작성 · 셀러 자리 수 · 스피커 3포인트 위치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매니저 + 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 실사 결과 반영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모토메니아·유명인 소장품 협조 (무상 조건)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미확정 시 프로그램에서 제외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당일 할인율 · 푸드 1차 섭외 결과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 이사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2차 공모 여부 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우천 시 운영 시나리오 (연기 vs 축소) · 야외 이벤트 실내 전환안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12480" y="1234440"/>
            <a:ext cx="3383280" cy="4983480"/>
          </a:xfrm>
          <a:prstGeom prst="roundRect">
            <a:avLst>
              <a:gd name="adj" fmla="val 2162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95360" y="1371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STEP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595360" y="17830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9/15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372600" y="1783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 대표 승인 · 담당자 실명 확정 · 예산 배분 승인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8595360" y="225856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9/19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372600" y="22585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 공문 발송 · 행사명 확정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8595360" y="273405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9/26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372600" y="273405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도식도 · 신청 폼 오픈 · 스피커 실사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595360" y="320954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10/10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372600" y="320954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 확답 → 경품 등급표·예산 확정 결재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8595360" y="368503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10/31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372600" y="36850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모집 마감 · 제작물 발주 · 시나리오 초안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8595360" y="41605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11/7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372600" y="4160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점검 회의 · 실명 배치표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8595360" y="463600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11/14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9372600" y="463600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세팅 · 사운드 체크 · 리허설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8595360" y="511149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11/15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9372600" y="511149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D-DAY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8595360" y="558698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11/20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372600" y="558698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결과보고 · 협찬사 감사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237744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E.O.D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0" y="35661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아르테 플리마켓 · v2 보완안 · 담당자 실명·예산 결재 후 v2.1 갱신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0" y="41148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 · RIDE · SHARE · CONNECT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2026-09-13T03:19:12Z</dcterms:created>
  <dcterms:modified xsi:type="dcterms:W3CDTF">2026-09-13T03:19:12Z</dcterms:modified>
</cp:coreProperties>
</file>